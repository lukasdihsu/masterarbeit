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ebm" ContentType="video/webm"/>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7" r:id="rId5"/>
    <p:sldId id="336" r:id="rId6"/>
    <p:sldId id="334" r:id="rId7"/>
    <p:sldId id="285" r:id="rId8"/>
    <p:sldId id="330" r:id="rId9"/>
    <p:sldId id="260" r:id="rId10"/>
    <p:sldId id="305" r:id="rId11"/>
    <p:sldId id="265" r:id="rId12"/>
    <p:sldId id="306" r:id="rId13"/>
    <p:sldId id="309" r:id="rId14"/>
    <p:sldId id="337" r:id="rId15"/>
    <p:sldId id="331" r:id="rId16"/>
    <p:sldId id="338" r:id="rId17"/>
    <p:sldId id="326" r:id="rId18"/>
    <p:sldId id="308" r:id="rId19"/>
    <p:sldId id="335" r:id="rId20"/>
    <p:sldId id="311" r:id="rId21"/>
    <p:sldId id="319" r:id="rId22"/>
    <p:sldId id="340" r:id="rId23"/>
    <p:sldId id="339" r:id="rId24"/>
    <p:sldId id="310" r:id="rId25"/>
    <p:sldId id="262" r:id="rId26"/>
    <p:sldId id="30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C09966-C87D-567D-15F1-737697DFD738}" v="1" dt="2026-08-05T01:10:20.06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83898" autoAdjust="0"/>
  </p:normalViewPr>
  <p:slideViewPr>
    <p:cSldViewPr snapToGrid="0">
      <p:cViewPr varScale="1">
        <p:scale>
          <a:sx n="74" d="100"/>
          <a:sy n="74" d="100"/>
        </p:scale>
        <p:origin x="720" y="36"/>
      </p:cViewPr>
      <p:guideLst/>
    </p:cSldViewPr>
  </p:slideViewPr>
  <p:notesTextViewPr>
    <p:cViewPr>
      <p:scale>
        <a:sx n="75" d="100"/>
        <a:sy n="7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C0C408-6EB5-4E77-A65C-69E44956BB40}" type="datetimeFigureOut">
              <a:rPr lang="en-US" smtClean="0"/>
              <a:t>8/9/2026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6785B7-62CE-404D-85EF-61A2B5071F59}" type="slidenum">
              <a:rPr lang="en-US" smtClean="0"/>
              <a:t>‹#›</a:t>
            </a:fld>
            <a:endParaRPr lang="en-US"/>
          </a:p>
        </p:txBody>
      </p:sp>
    </p:spTree>
    <p:extLst>
      <p:ext uri="{BB962C8B-B14F-4D97-AF65-F5344CB8AC3E}">
        <p14:creationId xmlns:p14="http://schemas.microsoft.com/office/powerpoint/2010/main" val="2429196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pPr>
            <a:endParaRPr lang="en-US" dirty="0"/>
          </a:p>
          <a:p>
            <a:endParaRPr lang="en-US" dirty="0"/>
          </a:p>
        </p:txBody>
      </p:sp>
      <p:sp>
        <p:nvSpPr>
          <p:cNvPr id="4" name="Foliennummernplatzhalter 3"/>
          <p:cNvSpPr>
            <a:spLocks noGrp="1"/>
          </p:cNvSpPr>
          <p:nvPr>
            <p:ph type="sldNum" sz="quarter" idx="5"/>
          </p:nvPr>
        </p:nvSpPr>
        <p:spPr/>
        <p:txBody>
          <a:bodyPr/>
          <a:lstStyle/>
          <a:p>
            <a:fld id="{266785B7-62CE-404D-85EF-61A2B5071F59}" type="slidenum">
              <a:rPr lang="en-US" smtClean="0"/>
              <a:t>1</a:t>
            </a:fld>
            <a:endParaRPr lang="en-US"/>
          </a:p>
        </p:txBody>
      </p:sp>
    </p:spTree>
    <p:extLst>
      <p:ext uri="{BB962C8B-B14F-4D97-AF65-F5344CB8AC3E}">
        <p14:creationId xmlns:p14="http://schemas.microsoft.com/office/powerpoint/2010/main" val="3721160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4CEAD-E97E-1768-1A5D-4910F7CAFE5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3E29376-4564-B5BA-E352-EAD080F7FB2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55E3C84-6582-18AA-6887-410D41ABF656}"/>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430EA308-D32E-E597-5E72-54647E941BAD}"/>
              </a:ext>
            </a:extLst>
          </p:cNvPr>
          <p:cNvSpPr>
            <a:spLocks noGrp="1"/>
          </p:cNvSpPr>
          <p:nvPr>
            <p:ph type="sldNum" sz="quarter" idx="5"/>
          </p:nvPr>
        </p:nvSpPr>
        <p:spPr/>
        <p:txBody>
          <a:bodyPr/>
          <a:lstStyle/>
          <a:p>
            <a:fld id="{266785B7-62CE-404D-85EF-61A2B5071F59}" type="slidenum">
              <a:rPr lang="en-US" smtClean="0"/>
              <a:t>2</a:t>
            </a:fld>
            <a:endParaRPr lang="en-US"/>
          </a:p>
        </p:txBody>
      </p:sp>
    </p:spTree>
    <p:extLst>
      <p:ext uri="{BB962C8B-B14F-4D97-AF65-F5344CB8AC3E}">
        <p14:creationId xmlns:p14="http://schemas.microsoft.com/office/powerpoint/2010/main" val="1875361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D0E4B-59E0-D051-2717-82707F0EF5B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31A7CA-7F6F-F032-B231-375F9F11306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2E874EA-D29C-F6C0-6C2A-D995D46111D9}"/>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9DA6F8B5-2585-F136-5921-BF0DD5AD802D}"/>
              </a:ext>
            </a:extLst>
          </p:cNvPr>
          <p:cNvSpPr>
            <a:spLocks noGrp="1"/>
          </p:cNvSpPr>
          <p:nvPr>
            <p:ph type="sldNum" sz="quarter" idx="5"/>
          </p:nvPr>
        </p:nvSpPr>
        <p:spPr/>
        <p:txBody>
          <a:bodyPr/>
          <a:lstStyle/>
          <a:p>
            <a:fld id="{266785B7-62CE-404D-85EF-61A2B5071F59}" type="slidenum">
              <a:rPr lang="en-US" smtClean="0"/>
              <a:t>3</a:t>
            </a:fld>
            <a:endParaRPr lang="en-US"/>
          </a:p>
        </p:txBody>
      </p:sp>
    </p:spTree>
    <p:extLst>
      <p:ext uri="{BB962C8B-B14F-4D97-AF65-F5344CB8AC3E}">
        <p14:creationId xmlns:p14="http://schemas.microsoft.com/office/powerpoint/2010/main" val="705382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266785B7-62CE-404D-85EF-61A2B5071F59}" type="slidenum">
              <a:rPr lang="en-US" smtClean="0"/>
              <a:t>4</a:t>
            </a:fld>
            <a:endParaRPr lang="en-US"/>
          </a:p>
        </p:txBody>
      </p:sp>
    </p:spTree>
    <p:extLst>
      <p:ext uri="{BB962C8B-B14F-4D97-AF65-F5344CB8AC3E}">
        <p14:creationId xmlns:p14="http://schemas.microsoft.com/office/powerpoint/2010/main" val="1215436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AA87A-96CD-C8BE-7535-D3D2673072A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8D4602-BB94-32BD-5296-369A35B412D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5115FE-961B-DF50-5AC9-7CFCAFCC3046}"/>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1D454957-C128-4CFE-7579-B6D2DC6DA499}"/>
              </a:ext>
            </a:extLst>
          </p:cNvPr>
          <p:cNvSpPr>
            <a:spLocks noGrp="1"/>
          </p:cNvSpPr>
          <p:nvPr>
            <p:ph type="sldNum" sz="quarter" idx="5"/>
          </p:nvPr>
        </p:nvSpPr>
        <p:spPr/>
        <p:txBody>
          <a:bodyPr/>
          <a:lstStyle/>
          <a:p>
            <a:fld id="{266785B7-62CE-404D-85EF-61A2B5071F59}" type="slidenum">
              <a:rPr lang="en-US" smtClean="0"/>
              <a:t>5</a:t>
            </a:fld>
            <a:endParaRPr lang="en-US"/>
          </a:p>
        </p:txBody>
      </p:sp>
    </p:spTree>
    <p:extLst>
      <p:ext uri="{BB962C8B-B14F-4D97-AF65-F5344CB8AC3E}">
        <p14:creationId xmlns:p14="http://schemas.microsoft.com/office/powerpoint/2010/main" val="2235723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Font typeface="+mj-lt"/>
              <a:buAutoNum type="arabicPeriod"/>
            </a:pPr>
            <a:endParaRPr lang="en-US" dirty="0"/>
          </a:p>
        </p:txBody>
      </p:sp>
      <p:sp>
        <p:nvSpPr>
          <p:cNvPr id="4" name="Foliennummernplatzhalter 3"/>
          <p:cNvSpPr>
            <a:spLocks noGrp="1"/>
          </p:cNvSpPr>
          <p:nvPr>
            <p:ph type="sldNum" sz="quarter" idx="5"/>
          </p:nvPr>
        </p:nvSpPr>
        <p:spPr/>
        <p:txBody>
          <a:bodyPr/>
          <a:lstStyle/>
          <a:p>
            <a:fld id="{266785B7-62CE-404D-85EF-61A2B5071F59}" type="slidenum">
              <a:rPr lang="en-US" smtClean="0"/>
              <a:t>6</a:t>
            </a:fld>
            <a:endParaRPr lang="en-US"/>
          </a:p>
        </p:txBody>
      </p:sp>
    </p:spTree>
    <p:extLst>
      <p:ext uri="{BB962C8B-B14F-4D97-AF65-F5344CB8AC3E}">
        <p14:creationId xmlns:p14="http://schemas.microsoft.com/office/powerpoint/2010/main" val="3463839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23F0-B8F2-B89E-058D-0ED5E635B5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0E974D9-B560-9E82-C33D-F7DCF6B44E4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AC8CF36-69D9-5549-8AB2-3088BE5593DA}"/>
              </a:ext>
            </a:extLst>
          </p:cNvPr>
          <p:cNvSpPr>
            <a:spLocks noGrp="1"/>
          </p:cNvSpPr>
          <p:nvPr>
            <p:ph type="body" idx="1"/>
          </p:nvPr>
        </p:nvSpPr>
        <p:spPr/>
        <p:txBody>
          <a:bodyPr/>
          <a:lstStyle/>
          <a:p>
            <a:pPr marL="228600" indent="-228600">
              <a:buFont typeface="+mj-lt"/>
              <a:buAutoNum type="arabicPeriod"/>
            </a:pPr>
            <a:r>
              <a:rPr lang="en-US"/>
              <a:t>Full-Mesh</a:t>
            </a:r>
            <a:endParaRPr lang="en-US" dirty="0"/>
          </a:p>
        </p:txBody>
      </p:sp>
      <p:sp>
        <p:nvSpPr>
          <p:cNvPr id="4" name="Foliennummernplatzhalter 3">
            <a:extLst>
              <a:ext uri="{FF2B5EF4-FFF2-40B4-BE49-F238E27FC236}">
                <a16:creationId xmlns:a16="http://schemas.microsoft.com/office/drawing/2014/main" id="{DF916275-D6D1-4CFA-9E26-53CDBE5A4295}"/>
              </a:ext>
            </a:extLst>
          </p:cNvPr>
          <p:cNvSpPr>
            <a:spLocks noGrp="1"/>
          </p:cNvSpPr>
          <p:nvPr>
            <p:ph type="sldNum" sz="quarter" idx="5"/>
          </p:nvPr>
        </p:nvSpPr>
        <p:spPr/>
        <p:txBody>
          <a:bodyPr/>
          <a:lstStyle/>
          <a:p>
            <a:fld id="{266785B7-62CE-404D-85EF-61A2B5071F59}" type="slidenum">
              <a:rPr lang="en-US" smtClean="0"/>
              <a:t>7</a:t>
            </a:fld>
            <a:endParaRPr lang="en-US"/>
          </a:p>
        </p:txBody>
      </p:sp>
    </p:spTree>
    <p:extLst>
      <p:ext uri="{BB962C8B-B14F-4D97-AF65-F5344CB8AC3E}">
        <p14:creationId xmlns:p14="http://schemas.microsoft.com/office/powerpoint/2010/main" val="921778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Foliennummernplatzhalter 3"/>
          <p:cNvSpPr>
            <a:spLocks noGrp="1"/>
          </p:cNvSpPr>
          <p:nvPr>
            <p:ph type="sldNum" sz="quarter" idx="5"/>
          </p:nvPr>
        </p:nvSpPr>
        <p:spPr/>
        <p:txBody>
          <a:bodyPr/>
          <a:lstStyle/>
          <a:p>
            <a:fld id="{266785B7-62CE-404D-85EF-61A2B5071F59}" type="slidenum">
              <a:rPr lang="en-US" smtClean="0"/>
              <a:t>8</a:t>
            </a:fld>
            <a:endParaRPr lang="en-US"/>
          </a:p>
        </p:txBody>
      </p:sp>
    </p:spTree>
    <p:extLst>
      <p:ext uri="{BB962C8B-B14F-4D97-AF65-F5344CB8AC3E}">
        <p14:creationId xmlns:p14="http://schemas.microsoft.com/office/powerpoint/2010/main" val="2427373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52D8-6F28-A957-BD92-4FF9C40D22C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32CBF17-7DC3-34DA-EF5B-8DF3F3650CF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9418A9D-942F-2302-68BF-20A2532BC34A}"/>
              </a:ext>
            </a:extLst>
          </p:cNvPr>
          <p:cNvSpPr>
            <a:spLocks noGrp="1"/>
          </p:cNvSpPr>
          <p:nvPr>
            <p:ph type="body" idx="1"/>
          </p:nvPr>
        </p:nvSpPr>
        <p:spPr/>
        <p:txBody>
          <a:bodyPr/>
          <a:lstStyle/>
          <a:p>
            <a:pPr marL="228600" indent="-228600">
              <a:buFont typeface="+mj-lt"/>
              <a:buAutoNum type="arabicPeriod"/>
            </a:pPr>
            <a:endParaRPr lang="en-US" dirty="0"/>
          </a:p>
        </p:txBody>
      </p:sp>
      <p:sp>
        <p:nvSpPr>
          <p:cNvPr id="4" name="Foliennummernplatzhalter 3">
            <a:extLst>
              <a:ext uri="{FF2B5EF4-FFF2-40B4-BE49-F238E27FC236}">
                <a16:creationId xmlns:a16="http://schemas.microsoft.com/office/drawing/2014/main" id="{84C90625-3A36-65C1-2CC7-B98176A8D0AA}"/>
              </a:ext>
            </a:extLst>
          </p:cNvPr>
          <p:cNvSpPr>
            <a:spLocks noGrp="1"/>
          </p:cNvSpPr>
          <p:nvPr>
            <p:ph type="sldNum" sz="quarter" idx="5"/>
          </p:nvPr>
        </p:nvSpPr>
        <p:spPr/>
        <p:txBody>
          <a:bodyPr/>
          <a:lstStyle/>
          <a:p>
            <a:fld id="{266785B7-62CE-404D-85EF-61A2B5071F59}" type="slidenum">
              <a:rPr lang="en-US" smtClean="0"/>
              <a:t>9</a:t>
            </a:fld>
            <a:endParaRPr lang="en-US"/>
          </a:p>
        </p:txBody>
      </p:sp>
    </p:spTree>
    <p:extLst>
      <p:ext uri="{BB962C8B-B14F-4D97-AF65-F5344CB8AC3E}">
        <p14:creationId xmlns:p14="http://schemas.microsoft.com/office/powerpoint/2010/main" val="419917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9C61-00E9-C57B-2604-909F70740DC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E60A0C6-FAFE-AE62-07C2-9868775E458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BC8CFAF-1765-AC20-207E-88DCF3E116EB}"/>
              </a:ext>
            </a:extLst>
          </p:cNvPr>
          <p:cNvSpPr>
            <a:spLocks noGrp="1"/>
          </p:cNvSpPr>
          <p:nvPr>
            <p:ph type="body" idx="1"/>
          </p:nvPr>
        </p:nvSpPr>
        <p:spPr/>
        <p:txBody>
          <a:bodyPr/>
          <a:lstStyle/>
          <a:p>
            <a:pPr marL="171450" indent="-171450">
              <a:buFont typeface="Arial" panose="020B0604020202020204" pitchFamily="34" charset="0"/>
              <a:buChar char="•"/>
            </a:pPr>
            <a:r>
              <a:rPr lang="en-US" dirty="0"/>
              <a:t>Model Context Protocol (Wie USB für </a:t>
            </a:r>
            <a:r>
              <a:rPr lang="en-US" dirty="0" err="1"/>
              <a:t>Sprachmodelle</a:t>
            </a:r>
            <a:r>
              <a:rPr lang="en-US" dirty="0"/>
              <a:t>)</a:t>
            </a:r>
          </a:p>
          <a:p>
            <a:pPr marL="171450" indent="-171450">
              <a:buFont typeface="Arial" panose="020B0604020202020204" pitchFamily="34" charset="0"/>
              <a:buChar char="•"/>
            </a:pPr>
            <a:r>
              <a:rPr lang="en-US" dirty="0" err="1"/>
              <a:t>Enthält</a:t>
            </a:r>
            <a:r>
              <a:rPr lang="en-US" dirty="0"/>
              <a:t> </a:t>
            </a:r>
            <a:r>
              <a:rPr lang="en-US" dirty="0" err="1"/>
              <a:t>Funktionen</a:t>
            </a:r>
            <a:r>
              <a:rPr lang="en-US" dirty="0"/>
              <a:t> und </a:t>
            </a:r>
            <a:r>
              <a:rPr lang="en-US" dirty="0" err="1"/>
              <a:t>Daten</a:t>
            </a:r>
            <a:endParaRPr lang="en-US" dirty="0"/>
          </a:p>
          <a:p>
            <a:pPr marL="171450" indent="-171450">
              <a:buFont typeface="Arial" panose="020B0604020202020204" pitchFamily="34" charset="0"/>
              <a:buChar char="•"/>
            </a:pPr>
            <a:r>
              <a:rPr lang="en-US" dirty="0" err="1"/>
              <a:t>FastMCP</a:t>
            </a:r>
            <a:endParaRPr lang="en-US" dirty="0"/>
          </a:p>
          <a:p>
            <a:pPr marL="171450" indent="-171450">
              <a:buFont typeface="Arial" panose="020B0604020202020204" pitchFamily="34" charset="0"/>
              <a:buChar char="•"/>
            </a:pPr>
            <a:r>
              <a:rPr lang="en-US" dirty="0" err="1"/>
              <a:t>Losgelöst</a:t>
            </a:r>
            <a:r>
              <a:rPr lang="en-US" dirty="0"/>
              <a:t> und </a:t>
            </a:r>
            <a:r>
              <a:rPr lang="en-US" dirty="0" err="1"/>
              <a:t>austauschbar</a:t>
            </a:r>
            <a:endParaRPr lang="en-US" dirty="0"/>
          </a:p>
          <a:p>
            <a:pPr marL="171450" indent="-171450">
              <a:buFont typeface="Arial" panose="020B0604020202020204" pitchFamily="34" charset="0"/>
              <a:buChar char="•"/>
            </a:pPr>
            <a:r>
              <a:rPr lang="en-US" dirty="0" err="1"/>
              <a:t>Enthält</a:t>
            </a:r>
            <a:r>
              <a:rPr lang="en-US" dirty="0"/>
              <a:t>  Tools (</a:t>
            </a:r>
            <a:r>
              <a:rPr lang="en-US" dirty="0" err="1"/>
              <a:t>wie</a:t>
            </a:r>
            <a:r>
              <a:rPr lang="en-US" dirty="0"/>
              <a:t> </a:t>
            </a:r>
            <a:r>
              <a:rPr lang="en-US" dirty="0" err="1"/>
              <a:t>z.B</a:t>
            </a:r>
            <a:r>
              <a:rPr lang="en-US" dirty="0"/>
              <a:t> </a:t>
            </a:r>
            <a:r>
              <a:rPr lang="en-US" dirty="0" err="1"/>
              <a:t>Objekt</a:t>
            </a:r>
            <a:r>
              <a:rPr lang="en-US" dirty="0"/>
              <a:t> </a:t>
            </a:r>
            <a:r>
              <a:rPr lang="en-US" dirty="0" err="1"/>
              <a:t>aufheben</a:t>
            </a:r>
            <a:r>
              <a:rPr lang="en-US" dirty="0"/>
              <a:t>/</a:t>
            </a:r>
            <a:r>
              <a:rPr lang="en-US" dirty="0" err="1"/>
              <a:t>absetzen</a:t>
            </a:r>
            <a:r>
              <a:rPr lang="en-US" dirty="0"/>
              <a:t>, </a:t>
            </a:r>
            <a:r>
              <a:rPr lang="en-US" dirty="0" err="1"/>
              <a:t>MoveTo</a:t>
            </a:r>
            <a:r>
              <a:rPr lang="en-US" dirty="0"/>
              <a:t> etc.)</a:t>
            </a:r>
          </a:p>
          <a:p>
            <a:pPr marL="171450" indent="-171450">
              <a:buFont typeface="Arial" panose="020B0604020202020204" pitchFamily="34" charset="0"/>
              <a:buChar char="•"/>
            </a:pPr>
            <a:r>
              <a:rPr lang="en-US" dirty="0" err="1"/>
              <a:t>Agenten</a:t>
            </a:r>
            <a:r>
              <a:rPr lang="en-US" dirty="0"/>
              <a:t> </a:t>
            </a:r>
            <a:r>
              <a:rPr lang="en-US" dirty="0" err="1"/>
              <a:t>haben</a:t>
            </a:r>
            <a:r>
              <a:rPr lang="en-US" dirty="0"/>
              <a:t> </a:t>
            </a:r>
            <a:r>
              <a:rPr lang="en-US" dirty="0" err="1"/>
              <a:t>beschränkt</a:t>
            </a:r>
            <a:r>
              <a:rPr lang="en-US" dirty="0"/>
              <a:t> </a:t>
            </a:r>
            <a:r>
              <a:rPr lang="en-US" dirty="0" err="1"/>
              <a:t>Zugriff</a:t>
            </a:r>
            <a:r>
              <a:rPr lang="en-US" dirty="0"/>
              <a:t> (</a:t>
            </a:r>
            <a:r>
              <a:rPr lang="en-US" dirty="0" err="1"/>
              <a:t>z.B.</a:t>
            </a:r>
            <a:r>
              <a:rPr lang="en-US" dirty="0"/>
              <a:t> Master Agent </a:t>
            </a:r>
            <a:r>
              <a:rPr lang="en-US" dirty="0" err="1"/>
              <a:t>kann</a:t>
            </a:r>
            <a:r>
              <a:rPr lang="en-US" dirty="0"/>
              <a:t> </a:t>
            </a:r>
            <a:r>
              <a:rPr lang="en-US" dirty="0" err="1"/>
              <a:t>keine</a:t>
            </a:r>
            <a:r>
              <a:rPr lang="en-US" dirty="0"/>
              <a:t> </a:t>
            </a:r>
            <a:r>
              <a:rPr lang="en-US" dirty="0" err="1"/>
              <a:t>Robotersteuertools</a:t>
            </a:r>
            <a:r>
              <a:rPr lang="en-US" dirty="0"/>
              <a:t> </a:t>
            </a:r>
            <a:r>
              <a:rPr lang="en-US" dirty="0" err="1"/>
              <a:t>benutzen</a:t>
            </a:r>
            <a:r>
              <a:rPr lang="en-US" dirty="0"/>
              <a:t>)</a:t>
            </a:r>
          </a:p>
          <a:p>
            <a:pPr marL="171450" indent="-171450">
              <a:buFont typeface="Arial" panose="020B0604020202020204" pitchFamily="34" charset="0"/>
              <a:buChar char="•"/>
            </a:pPr>
            <a:r>
              <a:rPr lang="en-US" dirty="0" err="1"/>
              <a:t>Enthält</a:t>
            </a:r>
            <a:r>
              <a:rPr lang="en-US" dirty="0"/>
              <a:t> Blackboard und </a:t>
            </a:r>
            <a:r>
              <a:rPr lang="en-US" dirty="0" err="1"/>
              <a:t>Objektliste</a:t>
            </a:r>
            <a:endParaRPr lang="en-US" dirty="0"/>
          </a:p>
        </p:txBody>
      </p:sp>
      <p:sp>
        <p:nvSpPr>
          <p:cNvPr id="4" name="Foliennummernplatzhalter 3">
            <a:extLst>
              <a:ext uri="{FF2B5EF4-FFF2-40B4-BE49-F238E27FC236}">
                <a16:creationId xmlns:a16="http://schemas.microsoft.com/office/drawing/2014/main" id="{7FA1A085-8D68-B282-3346-2C454CCDC9D0}"/>
              </a:ext>
            </a:extLst>
          </p:cNvPr>
          <p:cNvSpPr>
            <a:spLocks noGrp="1"/>
          </p:cNvSpPr>
          <p:nvPr>
            <p:ph type="sldNum" sz="quarter" idx="5"/>
          </p:nvPr>
        </p:nvSpPr>
        <p:spPr/>
        <p:txBody>
          <a:bodyPr/>
          <a:lstStyle/>
          <a:p>
            <a:fld id="{266785B7-62CE-404D-85EF-61A2B5071F59}" type="slidenum">
              <a:rPr lang="en-US" smtClean="0"/>
              <a:t>10</a:t>
            </a:fld>
            <a:endParaRPr lang="en-US"/>
          </a:p>
        </p:txBody>
      </p:sp>
    </p:spTree>
    <p:extLst>
      <p:ext uri="{BB962C8B-B14F-4D97-AF65-F5344CB8AC3E}">
        <p14:creationId xmlns:p14="http://schemas.microsoft.com/office/powerpoint/2010/main" val="3318501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35F5-FD7A-6710-A2A7-331710E3B0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971E08C-9F92-892B-0B80-57B8DB29C0E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667B320-41FB-0654-461E-5503AF2EB102}"/>
              </a:ext>
            </a:extLst>
          </p:cNvPr>
          <p:cNvSpPr>
            <a:spLocks noGrp="1"/>
          </p:cNvSpPr>
          <p:nvPr>
            <p:ph type="body" idx="1"/>
          </p:nvPr>
        </p:nvSpPr>
        <p:spPr/>
        <p:txBody>
          <a:bodyPr/>
          <a:lstStyle/>
          <a:p>
            <a:pPr marL="171450" indent="-171450">
              <a:buFont typeface="Arial"/>
              <a:buChar char="•"/>
            </a:pPr>
            <a:r>
              <a:rPr lang="en-US" dirty="0"/>
              <a:t>Kommunikation </a:t>
            </a:r>
            <a:r>
              <a:rPr lang="en-US" dirty="0" err="1"/>
              <a:t>über</a:t>
            </a:r>
            <a:r>
              <a:rPr lang="en-US" dirty="0"/>
              <a:t> CLI</a:t>
            </a:r>
          </a:p>
          <a:p>
            <a:pPr marL="171450" indent="-171450">
              <a:buFont typeface="Arial"/>
              <a:buChar char="•"/>
            </a:pPr>
            <a:r>
              <a:rPr lang="en-US" dirty="0"/>
              <a:t>Monitor Fenster </a:t>
            </a:r>
            <a:r>
              <a:rPr lang="en-US" dirty="0" err="1"/>
              <a:t>werden</a:t>
            </a:r>
            <a:r>
              <a:rPr lang="en-US" dirty="0"/>
              <a:t>:</a:t>
            </a:r>
          </a:p>
          <a:p>
            <a:pPr lvl="1" indent="-171450">
              <a:buFont typeface="Courier New"/>
              <a:buChar char="o"/>
            </a:pPr>
            <a:r>
              <a:rPr lang="en-US" dirty="0"/>
              <a:t>In- und </a:t>
            </a:r>
            <a:r>
              <a:rPr lang="en-US"/>
              <a:t>Output Tokens</a:t>
            </a:r>
          </a:p>
          <a:p>
            <a:pPr lvl="1" indent="-171450">
              <a:buFont typeface="Courier New"/>
              <a:buChar char="o"/>
            </a:pPr>
            <a:r>
              <a:rPr lang="en-US" dirty="0" err="1"/>
              <a:t>Interagentennachrichten</a:t>
            </a:r>
          </a:p>
          <a:p>
            <a:pPr lvl="1" indent="-171450">
              <a:buFont typeface="Courier New"/>
              <a:buChar char="o"/>
            </a:pPr>
            <a:r>
              <a:rPr lang="en-US" dirty="0"/>
              <a:t>LLM </a:t>
            </a:r>
            <a:r>
              <a:rPr lang="en-US" dirty="0" err="1"/>
              <a:t>Aufrufe</a:t>
            </a:r>
            <a:r>
              <a:rPr lang="en-US" dirty="0"/>
              <a:t> </a:t>
            </a:r>
            <a:r>
              <a:rPr lang="en-US" dirty="0" err="1"/>
              <a:t>gez</a:t>
            </a:r>
            <a:r>
              <a:rPr lang="en-US" dirty="0"/>
              <a:t>ählt</a:t>
            </a:r>
          </a:p>
        </p:txBody>
      </p:sp>
      <p:sp>
        <p:nvSpPr>
          <p:cNvPr id="4" name="Foliennummernplatzhalter 3">
            <a:extLst>
              <a:ext uri="{FF2B5EF4-FFF2-40B4-BE49-F238E27FC236}">
                <a16:creationId xmlns:a16="http://schemas.microsoft.com/office/drawing/2014/main" id="{FCA2584E-BCDB-5BB0-9C70-4FD579B24625}"/>
              </a:ext>
            </a:extLst>
          </p:cNvPr>
          <p:cNvSpPr>
            <a:spLocks noGrp="1"/>
          </p:cNvSpPr>
          <p:nvPr>
            <p:ph type="sldNum" sz="quarter" idx="5"/>
          </p:nvPr>
        </p:nvSpPr>
        <p:spPr/>
        <p:txBody>
          <a:bodyPr/>
          <a:lstStyle/>
          <a:p>
            <a:fld id="{266785B7-62CE-404D-85EF-61A2B5071F59}" type="slidenum">
              <a:rPr lang="en-US" smtClean="0"/>
              <a:t>11</a:t>
            </a:fld>
            <a:endParaRPr lang="en-US"/>
          </a:p>
        </p:txBody>
      </p:sp>
    </p:spTree>
    <p:extLst>
      <p:ext uri="{BB962C8B-B14F-4D97-AF65-F5344CB8AC3E}">
        <p14:creationId xmlns:p14="http://schemas.microsoft.com/office/powerpoint/2010/main" val="2221559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E4CF-1775-4346-EB47-90967D6CD3A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7624EF9-7DF9-5DA2-F7B3-A365B8581A4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601BE3D-12DA-6465-D531-899D2E8CCA7A}"/>
              </a:ext>
            </a:extLst>
          </p:cNvPr>
          <p:cNvSpPr>
            <a:spLocks noGrp="1"/>
          </p:cNvSpPr>
          <p:nvPr>
            <p:ph type="body" idx="1"/>
          </p:nvPr>
        </p:nvSpPr>
        <p:spPr/>
        <p:txBody>
          <a:bodyPr/>
          <a:lstStyle/>
          <a:p>
            <a:pPr marL="171450" indent="-171450">
              <a:buFont typeface="Arial"/>
              <a:buChar char="•"/>
            </a:pPr>
            <a:r>
              <a:rPr lang="en-US"/>
              <a:t>ROS2 Jazzy und Modern Gazebo</a:t>
            </a:r>
            <a:endParaRPr lang="en-US" dirty="0"/>
          </a:p>
          <a:p>
            <a:pPr marL="171450" indent="-171450">
              <a:buFont typeface="Arial"/>
              <a:buChar char="•"/>
            </a:pPr>
            <a:r>
              <a:rPr lang="en-US" dirty="0"/>
              <a:t>Werden in turtlebot3 Multi Robot Simulation </a:t>
            </a:r>
            <a:r>
              <a:rPr lang="en-US" dirty="0" err="1"/>
              <a:t>druchgeführt</a:t>
            </a:r>
            <a:endParaRPr lang="en-US" dirty="0"/>
          </a:p>
          <a:p>
            <a:pPr marL="171450" indent="-171450">
              <a:buFont typeface="Arial"/>
              <a:buChar char="•"/>
            </a:pPr>
            <a:r>
              <a:rPr lang="en-US" dirty="0" err="1"/>
              <a:t>Abwandlungen</a:t>
            </a:r>
            <a:r>
              <a:rPr lang="en-US" dirty="0"/>
              <a:t> von turtlebot3 world map</a:t>
            </a:r>
          </a:p>
        </p:txBody>
      </p:sp>
      <p:sp>
        <p:nvSpPr>
          <p:cNvPr id="4" name="Foliennummernplatzhalter 3">
            <a:extLst>
              <a:ext uri="{FF2B5EF4-FFF2-40B4-BE49-F238E27FC236}">
                <a16:creationId xmlns:a16="http://schemas.microsoft.com/office/drawing/2014/main" id="{AAB9FBCB-7671-F0F8-304B-1EE35EBD76DC}"/>
              </a:ext>
            </a:extLst>
          </p:cNvPr>
          <p:cNvSpPr>
            <a:spLocks noGrp="1"/>
          </p:cNvSpPr>
          <p:nvPr>
            <p:ph type="sldNum" sz="quarter" idx="5"/>
          </p:nvPr>
        </p:nvSpPr>
        <p:spPr/>
        <p:txBody>
          <a:bodyPr/>
          <a:lstStyle/>
          <a:p>
            <a:fld id="{266785B7-62CE-404D-85EF-61A2B5071F59}" type="slidenum">
              <a:rPr lang="en-US" smtClean="0"/>
              <a:t>12</a:t>
            </a:fld>
            <a:endParaRPr lang="en-US"/>
          </a:p>
        </p:txBody>
      </p:sp>
    </p:spTree>
    <p:extLst>
      <p:ext uri="{BB962C8B-B14F-4D97-AF65-F5344CB8AC3E}">
        <p14:creationId xmlns:p14="http://schemas.microsoft.com/office/powerpoint/2010/main" val="2692017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13BC-AA13-1250-72EE-86F3AA241E7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2657D1-1680-BB0B-DDAF-920E7E6C77C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33DC773-FA2D-8315-9CBB-564336AA6AD2}"/>
              </a:ext>
            </a:extLst>
          </p:cNvPr>
          <p:cNvSpPr>
            <a:spLocks noGrp="1"/>
          </p:cNvSpPr>
          <p:nvPr>
            <p:ph type="body" idx="1"/>
          </p:nvPr>
        </p:nvSpPr>
        <p:spPr/>
        <p:txBody>
          <a:bodyPr/>
          <a:lstStyle/>
          <a:p>
            <a:pPr marL="171450" indent="-171450">
              <a:buFont typeface="Arial"/>
              <a:buChar char="•"/>
            </a:pPr>
            <a:r>
              <a:rPr lang="en-US"/>
              <a:t>ROS2 Jazzy und Modern Gazebo</a:t>
            </a:r>
            <a:endParaRPr lang="en-US" dirty="0"/>
          </a:p>
          <a:p>
            <a:pPr marL="171450" indent="-171450">
              <a:buFont typeface="Arial"/>
              <a:buChar char="•"/>
            </a:pPr>
            <a:r>
              <a:rPr lang="en-US" dirty="0"/>
              <a:t>Werden in turtlebot3 Multi Robot Simulation </a:t>
            </a:r>
            <a:r>
              <a:rPr lang="en-US" dirty="0" err="1"/>
              <a:t>druchgeführt</a:t>
            </a:r>
            <a:endParaRPr lang="en-US" dirty="0"/>
          </a:p>
          <a:p>
            <a:pPr marL="171450" indent="-171450">
              <a:buFont typeface="Arial"/>
              <a:buChar char="•"/>
            </a:pPr>
            <a:r>
              <a:rPr lang="en-US" dirty="0" err="1"/>
              <a:t>Abwandlungen</a:t>
            </a:r>
            <a:r>
              <a:rPr lang="en-US" dirty="0"/>
              <a:t> von turtlebot3 world map</a:t>
            </a:r>
          </a:p>
        </p:txBody>
      </p:sp>
      <p:sp>
        <p:nvSpPr>
          <p:cNvPr id="4" name="Foliennummernplatzhalter 3">
            <a:extLst>
              <a:ext uri="{FF2B5EF4-FFF2-40B4-BE49-F238E27FC236}">
                <a16:creationId xmlns:a16="http://schemas.microsoft.com/office/drawing/2014/main" id="{07DD5A00-8841-ABF5-C647-9AEFBE561300}"/>
              </a:ext>
            </a:extLst>
          </p:cNvPr>
          <p:cNvSpPr>
            <a:spLocks noGrp="1"/>
          </p:cNvSpPr>
          <p:nvPr>
            <p:ph type="sldNum" sz="quarter" idx="5"/>
          </p:nvPr>
        </p:nvSpPr>
        <p:spPr/>
        <p:txBody>
          <a:bodyPr/>
          <a:lstStyle/>
          <a:p>
            <a:fld id="{266785B7-62CE-404D-85EF-61A2B5071F59}" type="slidenum">
              <a:rPr lang="en-US" smtClean="0"/>
              <a:t>13</a:t>
            </a:fld>
            <a:endParaRPr lang="en-US"/>
          </a:p>
        </p:txBody>
      </p:sp>
    </p:spTree>
    <p:extLst>
      <p:ext uri="{BB962C8B-B14F-4D97-AF65-F5344CB8AC3E}">
        <p14:creationId xmlns:p14="http://schemas.microsoft.com/office/powerpoint/2010/main" val="3461160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4A91D-C1AA-CC59-F9C2-C37D0F808E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B55AB77-5285-018E-D8BF-A787E867A2B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D5635B9-1A2A-6368-834D-570D63B46DFA}"/>
              </a:ext>
            </a:extLst>
          </p:cNvPr>
          <p:cNvSpPr>
            <a:spLocks noGrp="1"/>
          </p:cNvSpPr>
          <p:nvPr>
            <p:ph type="body" idx="1"/>
          </p:nvPr>
        </p:nvSpPr>
        <p:spPr/>
        <p:txBody>
          <a:bodyPr/>
          <a:lstStyle/>
          <a:p>
            <a:pPr marL="228600" indent="-228600">
              <a:buFont typeface="+mj-lt"/>
              <a:buAutoNum type="arabicPeriod"/>
            </a:pPr>
            <a:endParaRPr lang="en-US" dirty="0"/>
          </a:p>
        </p:txBody>
      </p:sp>
      <p:sp>
        <p:nvSpPr>
          <p:cNvPr id="4" name="Foliennummernplatzhalter 3">
            <a:extLst>
              <a:ext uri="{FF2B5EF4-FFF2-40B4-BE49-F238E27FC236}">
                <a16:creationId xmlns:a16="http://schemas.microsoft.com/office/drawing/2014/main" id="{CE1700B6-2680-1DCB-589F-0D158223FBAE}"/>
              </a:ext>
            </a:extLst>
          </p:cNvPr>
          <p:cNvSpPr>
            <a:spLocks noGrp="1"/>
          </p:cNvSpPr>
          <p:nvPr>
            <p:ph type="sldNum" sz="quarter" idx="5"/>
          </p:nvPr>
        </p:nvSpPr>
        <p:spPr/>
        <p:txBody>
          <a:bodyPr/>
          <a:lstStyle/>
          <a:p>
            <a:fld id="{266785B7-62CE-404D-85EF-61A2B5071F59}" type="slidenum">
              <a:rPr lang="en-US" smtClean="0"/>
              <a:t>15</a:t>
            </a:fld>
            <a:endParaRPr lang="en-US"/>
          </a:p>
        </p:txBody>
      </p:sp>
    </p:spTree>
    <p:extLst>
      <p:ext uri="{BB962C8B-B14F-4D97-AF65-F5344CB8AC3E}">
        <p14:creationId xmlns:p14="http://schemas.microsoft.com/office/powerpoint/2010/main" val="3567187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solidFill>
                  <a:srgbClr val="695C5D"/>
                </a:solidFill>
              </a:rPr>
              <a:t>(Package </a:t>
            </a:r>
            <a:r>
              <a:rPr lang="de-DE" dirty="0" err="1">
                <a:solidFill>
                  <a:srgbClr val="695C5D"/>
                </a:solidFill>
              </a:rPr>
              <a:t>Delivery</a:t>
            </a:r>
            <a:r>
              <a:rPr lang="de-DE" dirty="0">
                <a:solidFill>
                  <a:srgbClr val="695C5D"/>
                </a:solidFill>
              </a:rPr>
              <a:t>)</a:t>
            </a:r>
            <a:endParaRPr lang="en-US" dirty="0"/>
          </a:p>
          <a:p>
            <a:endParaRPr lang="en-US" dirty="0">
              <a:latin typeface="Calibri"/>
              <a:ea typeface="Calibri"/>
              <a:cs typeface="Calibri"/>
            </a:endParaRPr>
          </a:p>
          <a:p>
            <a:r>
              <a:rPr lang="en-US" dirty="0" err="1">
                <a:latin typeface="Calibri"/>
                <a:ea typeface="Calibri"/>
                <a:cs typeface="Calibri"/>
              </a:rPr>
              <a:t>Schwierigkeitslevels</a:t>
            </a:r>
            <a:r>
              <a:rPr lang="en-US" dirty="0">
                <a:latin typeface="Calibri"/>
                <a:ea typeface="Calibri"/>
                <a:cs typeface="Calibri"/>
              </a:rPr>
              <a:t>:</a:t>
            </a:r>
            <a:endParaRPr lang="en-US" dirty="0"/>
          </a:p>
          <a:p>
            <a:r>
              <a:rPr lang="en-US" dirty="0" err="1">
                <a:latin typeface="Calibri"/>
                <a:ea typeface="Calibri"/>
                <a:cs typeface="Calibri"/>
              </a:rPr>
              <a:t>Einfach</a:t>
            </a:r>
            <a:r>
              <a:rPr lang="en-US" dirty="0">
                <a:latin typeface="Calibri"/>
                <a:ea typeface="Calibri"/>
                <a:cs typeface="Calibri"/>
              </a:rPr>
              <a:t> – 2 </a:t>
            </a:r>
            <a:r>
              <a:rPr lang="en-US" dirty="0" err="1">
                <a:latin typeface="Calibri"/>
                <a:ea typeface="Calibri"/>
                <a:cs typeface="Calibri"/>
              </a:rPr>
              <a:t>Roboter</a:t>
            </a:r>
            <a:r>
              <a:rPr lang="en-US" dirty="0">
                <a:latin typeface="Calibri"/>
                <a:ea typeface="Calibri"/>
                <a:cs typeface="Calibri"/>
              </a:rPr>
              <a:t> / 2 </a:t>
            </a:r>
            <a:r>
              <a:rPr lang="en-US" dirty="0" err="1">
                <a:latin typeface="Calibri"/>
                <a:ea typeface="Calibri"/>
                <a:cs typeface="Calibri"/>
              </a:rPr>
              <a:t>Aufträge</a:t>
            </a:r>
            <a:endParaRPr lang="en-US">
              <a:latin typeface="Calibri"/>
              <a:ea typeface="Calibri"/>
              <a:cs typeface="Calibri"/>
            </a:endParaRPr>
          </a:p>
          <a:p>
            <a:r>
              <a:rPr lang="en-US" dirty="0">
                <a:latin typeface="Calibri"/>
                <a:ea typeface="Calibri"/>
                <a:cs typeface="Calibri"/>
              </a:rPr>
              <a:t>Mittel – 4 </a:t>
            </a:r>
            <a:r>
              <a:rPr lang="en-US" dirty="0" err="1">
                <a:latin typeface="Calibri"/>
                <a:ea typeface="Calibri"/>
                <a:cs typeface="Calibri"/>
              </a:rPr>
              <a:t>Roboter</a:t>
            </a:r>
            <a:r>
              <a:rPr lang="en-US" dirty="0">
                <a:latin typeface="Calibri"/>
                <a:ea typeface="Calibri"/>
                <a:cs typeface="Calibri"/>
              </a:rPr>
              <a:t> / 4 </a:t>
            </a:r>
            <a:r>
              <a:rPr lang="en-US" dirty="0" err="1">
                <a:latin typeface="Calibri"/>
                <a:ea typeface="Calibri"/>
                <a:cs typeface="Calibri"/>
              </a:rPr>
              <a:t>Aufträge</a:t>
            </a:r>
            <a:endParaRPr lang="en-US">
              <a:latin typeface="Calibri"/>
              <a:ea typeface="Calibri"/>
              <a:cs typeface="Calibri"/>
            </a:endParaRPr>
          </a:p>
          <a:p>
            <a:r>
              <a:rPr lang="en-US" dirty="0">
                <a:latin typeface="Calibri"/>
                <a:ea typeface="Calibri"/>
                <a:cs typeface="Calibri"/>
              </a:rPr>
              <a:t>Schwer – 6 </a:t>
            </a:r>
            <a:r>
              <a:rPr lang="en-US" dirty="0" err="1">
                <a:latin typeface="Calibri"/>
                <a:ea typeface="Calibri"/>
                <a:cs typeface="Calibri"/>
              </a:rPr>
              <a:t>Roboter</a:t>
            </a:r>
            <a:r>
              <a:rPr lang="en-US" dirty="0">
                <a:latin typeface="Calibri"/>
                <a:ea typeface="Calibri"/>
                <a:cs typeface="Calibri"/>
              </a:rPr>
              <a:t> / 6-8 </a:t>
            </a:r>
            <a:r>
              <a:rPr lang="en-US" dirty="0" err="1">
                <a:latin typeface="Calibri"/>
                <a:ea typeface="Calibri"/>
                <a:cs typeface="Calibri"/>
              </a:rPr>
              <a:t>Aufträge</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266785B7-62CE-404D-85EF-61A2B5071F59}" type="slidenum">
              <a:rPr lang="en-US" smtClean="0"/>
              <a:t>16</a:t>
            </a:fld>
            <a:endParaRPr lang="en-US"/>
          </a:p>
        </p:txBody>
      </p:sp>
    </p:spTree>
    <p:extLst>
      <p:ext uri="{BB962C8B-B14F-4D97-AF65-F5344CB8AC3E}">
        <p14:creationId xmlns:p14="http://schemas.microsoft.com/office/powerpoint/2010/main" val="4132553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C11A-88D5-0C3C-11E0-ABB6739B530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17BFBD-9374-F13A-9287-1A1968EFC5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CE4FBF-918A-0ED4-18E1-D4B1FAF8AC3B}"/>
              </a:ext>
            </a:extLst>
          </p:cNvPr>
          <p:cNvSpPr>
            <a:spLocks noGrp="1"/>
          </p:cNvSpPr>
          <p:nvPr>
            <p:ph type="body" idx="1"/>
          </p:nvPr>
        </p:nvSpPr>
        <p:spPr/>
        <p:txBody>
          <a:bodyPr/>
          <a:lstStyle/>
          <a:p>
            <a:pPr marL="171450" indent="-171450">
              <a:buFont typeface="Arial" panose="02110004020202020204"/>
              <a:buChar char="•"/>
            </a:pPr>
            <a:r>
              <a:rPr lang="en-US" dirty="0" err="1"/>
              <a:t>Schwierigkeitslevels</a:t>
            </a:r>
            <a:r>
              <a:rPr lang="en-US" dirty="0"/>
              <a:t>:</a:t>
            </a:r>
          </a:p>
          <a:p>
            <a:pPr marL="171450" indent="-171450">
              <a:buFont typeface="Arial" panose="02110004020202020204"/>
              <a:buChar char="•"/>
            </a:pPr>
            <a:r>
              <a:rPr lang="en-US" dirty="0" err="1"/>
              <a:t>Einfach</a:t>
            </a:r>
            <a:r>
              <a:rPr lang="en-US" dirty="0"/>
              <a:t> – 2 </a:t>
            </a:r>
            <a:r>
              <a:rPr lang="en-US" dirty="0" err="1"/>
              <a:t>Roboter</a:t>
            </a:r>
            <a:r>
              <a:rPr lang="en-US" dirty="0"/>
              <a:t> / </a:t>
            </a:r>
            <a:r>
              <a:rPr lang="en-US" dirty="0" err="1"/>
              <a:t>keine</a:t>
            </a:r>
            <a:r>
              <a:rPr lang="en-US" dirty="0"/>
              <a:t> </a:t>
            </a:r>
            <a:r>
              <a:rPr lang="en-US" dirty="0" err="1"/>
              <a:t>Priorität</a:t>
            </a:r>
          </a:p>
          <a:p>
            <a:pPr marL="171450" indent="-171450">
              <a:buFont typeface="Arial" panose="02110004020202020204"/>
              <a:buChar char="•"/>
            </a:pPr>
            <a:r>
              <a:rPr lang="en-US" dirty="0"/>
              <a:t>Mittel – 4 </a:t>
            </a:r>
            <a:r>
              <a:rPr lang="en-US" dirty="0" err="1"/>
              <a:t>Roboter</a:t>
            </a:r>
            <a:r>
              <a:rPr lang="en-US" dirty="0"/>
              <a:t> / </a:t>
            </a:r>
            <a:r>
              <a:rPr lang="en-US" dirty="0" err="1"/>
              <a:t>Priorität</a:t>
            </a:r>
            <a:r>
              <a:rPr lang="en-US" dirty="0"/>
              <a:t> </a:t>
            </a:r>
            <a:r>
              <a:rPr lang="en-US" dirty="0" err="1"/>
              <a:t>einer</a:t>
            </a:r>
            <a:r>
              <a:rPr lang="en-US" dirty="0"/>
              <a:t> </a:t>
            </a:r>
            <a:r>
              <a:rPr lang="en-US" dirty="0" err="1"/>
              <a:t>Seite</a:t>
            </a:r>
          </a:p>
          <a:p>
            <a:pPr marL="171450" indent="-171450">
              <a:buFont typeface="Arial" panose="02110004020202020204"/>
              <a:buChar char="•"/>
            </a:pPr>
            <a:r>
              <a:rPr lang="en-US" dirty="0"/>
              <a:t>Schwer – 6 </a:t>
            </a:r>
            <a:r>
              <a:rPr lang="en-US" dirty="0" err="1"/>
              <a:t>Roboter</a:t>
            </a:r>
            <a:r>
              <a:rPr lang="en-US" dirty="0"/>
              <a:t> / </a:t>
            </a:r>
            <a:r>
              <a:rPr lang="en-US" dirty="0" err="1"/>
              <a:t>Unterschiedliche</a:t>
            </a:r>
            <a:r>
              <a:rPr lang="en-US" dirty="0"/>
              <a:t> </a:t>
            </a:r>
            <a:r>
              <a:rPr lang="en-US" dirty="0" err="1"/>
              <a:t>Prioritäten</a:t>
            </a:r>
          </a:p>
        </p:txBody>
      </p:sp>
      <p:sp>
        <p:nvSpPr>
          <p:cNvPr id="4" name="Foliennummernplatzhalter 3">
            <a:extLst>
              <a:ext uri="{FF2B5EF4-FFF2-40B4-BE49-F238E27FC236}">
                <a16:creationId xmlns:a16="http://schemas.microsoft.com/office/drawing/2014/main" id="{63E82F8D-E92D-19EA-FEB2-EA70D93A0282}"/>
              </a:ext>
            </a:extLst>
          </p:cNvPr>
          <p:cNvSpPr>
            <a:spLocks noGrp="1"/>
          </p:cNvSpPr>
          <p:nvPr>
            <p:ph type="sldNum" sz="quarter" idx="5"/>
          </p:nvPr>
        </p:nvSpPr>
        <p:spPr/>
        <p:txBody>
          <a:bodyPr/>
          <a:lstStyle/>
          <a:p>
            <a:fld id="{266785B7-62CE-404D-85EF-61A2B5071F59}" type="slidenum">
              <a:rPr lang="en-US" smtClean="0"/>
              <a:t>17</a:t>
            </a:fld>
            <a:endParaRPr lang="en-US"/>
          </a:p>
        </p:txBody>
      </p:sp>
    </p:spTree>
    <p:extLst>
      <p:ext uri="{BB962C8B-B14F-4D97-AF65-F5344CB8AC3E}">
        <p14:creationId xmlns:p14="http://schemas.microsoft.com/office/powerpoint/2010/main" val="1642222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269D7-7ABB-C948-5618-884D0365024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9FD878-9A00-8B76-54CF-66EDD5655D3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B76D4CD-04EC-A2FE-D5B3-C0D6DC83846E}"/>
              </a:ext>
            </a:extLst>
          </p:cNvPr>
          <p:cNvSpPr>
            <a:spLocks noGrp="1"/>
          </p:cNvSpPr>
          <p:nvPr>
            <p:ph type="body" idx="1"/>
          </p:nvPr>
        </p:nvSpPr>
        <p:spPr/>
        <p:txBody>
          <a:bodyPr/>
          <a:lstStyle/>
          <a:p>
            <a:pPr marL="171450" indent="-171450">
              <a:buFont typeface="Arial,Sans-Serif" panose="02110004020202020204"/>
              <a:buChar char="•"/>
            </a:pPr>
            <a:r>
              <a:rPr lang="en-US" dirty="0" err="1"/>
              <a:t>Schwierigkeitslevels</a:t>
            </a:r>
            <a:r>
              <a:rPr lang="en-US" dirty="0"/>
              <a:t>:</a:t>
            </a:r>
          </a:p>
          <a:p>
            <a:pPr marL="171450" indent="-171450">
              <a:buFont typeface="Arial,Sans-Serif" panose="02110004020202020204"/>
              <a:buChar char="•"/>
            </a:pPr>
            <a:r>
              <a:rPr lang="en-US" dirty="0" err="1"/>
              <a:t>Einfach</a:t>
            </a:r>
            <a:r>
              <a:rPr lang="en-US" dirty="0"/>
              <a:t> – 2 </a:t>
            </a:r>
            <a:r>
              <a:rPr lang="en-US" dirty="0" err="1"/>
              <a:t>Roboter</a:t>
            </a:r>
            <a:r>
              <a:rPr lang="en-US" dirty="0"/>
              <a:t> / 2 </a:t>
            </a:r>
            <a:r>
              <a:rPr lang="en-US" dirty="0" err="1"/>
              <a:t>Pakete</a:t>
            </a:r>
          </a:p>
          <a:p>
            <a:pPr marL="171450" indent="-171450">
              <a:buFont typeface="Arial,Sans-Serif" panose="02110004020202020204"/>
              <a:buChar char="•"/>
            </a:pPr>
            <a:r>
              <a:rPr lang="en-US" dirty="0"/>
              <a:t>Mittel – 4 </a:t>
            </a:r>
            <a:r>
              <a:rPr lang="en-US" dirty="0" err="1"/>
              <a:t>Roboter</a:t>
            </a:r>
            <a:r>
              <a:rPr lang="en-US" dirty="0"/>
              <a:t> / 4 </a:t>
            </a:r>
            <a:r>
              <a:rPr lang="en-US" dirty="0" err="1"/>
              <a:t>Pakete</a:t>
            </a:r>
            <a:r>
              <a:rPr lang="en-US" dirty="0"/>
              <a:t> </a:t>
            </a:r>
          </a:p>
          <a:p>
            <a:pPr marL="171450" indent="-171450">
              <a:buFont typeface="Arial,Sans-Serif" panose="02110004020202020204"/>
              <a:buChar char="•"/>
            </a:pPr>
            <a:r>
              <a:rPr lang="en-US" dirty="0"/>
              <a:t>Schwer – 6 </a:t>
            </a:r>
            <a:r>
              <a:rPr lang="en-US" dirty="0" err="1"/>
              <a:t>Roboter</a:t>
            </a:r>
            <a:r>
              <a:rPr lang="en-US" dirty="0"/>
              <a:t> / 6 </a:t>
            </a:r>
            <a:r>
              <a:rPr lang="en-US" dirty="0" err="1"/>
              <a:t>Pakete</a:t>
            </a:r>
            <a:r>
              <a:rPr lang="en-US" dirty="0"/>
              <a:t> </a:t>
            </a:r>
          </a:p>
        </p:txBody>
      </p:sp>
      <p:sp>
        <p:nvSpPr>
          <p:cNvPr id="4" name="Foliennummernplatzhalter 3">
            <a:extLst>
              <a:ext uri="{FF2B5EF4-FFF2-40B4-BE49-F238E27FC236}">
                <a16:creationId xmlns:a16="http://schemas.microsoft.com/office/drawing/2014/main" id="{C34216CE-C730-D354-9F12-34DA4234730D}"/>
              </a:ext>
            </a:extLst>
          </p:cNvPr>
          <p:cNvSpPr>
            <a:spLocks noGrp="1"/>
          </p:cNvSpPr>
          <p:nvPr>
            <p:ph type="sldNum" sz="quarter" idx="5"/>
          </p:nvPr>
        </p:nvSpPr>
        <p:spPr/>
        <p:txBody>
          <a:bodyPr/>
          <a:lstStyle/>
          <a:p>
            <a:fld id="{266785B7-62CE-404D-85EF-61A2B5071F59}" type="slidenum">
              <a:rPr lang="en-US" smtClean="0"/>
              <a:t>18</a:t>
            </a:fld>
            <a:endParaRPr lang="en-US"/>
          </a:p>
        </p:txBody>
      </p:sp>
    </p:spTree>
    <p:extLst>
      <p:ext uri="{BB962C8B-B14F-4D97-AF65-F5344CB8AC3E}">
        <p14:creationId xmlns:p14="http://schemas.microsoft.com/office/powerpoint/2010/main" val="2615711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2D3C6-3E48-2958-8FA7-7CDB1DF523E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9AAFE0-B679-B588-C24A-4F34F5C8421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3A839C-63CF-FE98-CB28-65D5AD06A0BC}"/>
              </a:ext>
            </a:extLst>
          </p:cNvPr>
          <p:cNvSpPr>
            <a:spLocks noGrp="1"/>
          </p:cNvSpPr>
          <p:nvPr>
            <p:ph type="body" idx="1"/>
          </p:nvPr>
        </p:nvSpPr>
        <p:spPr/>
        <p:txBody>
          <a:bodyPr/>
          <a:lstStyle/>
          <a:p>
            <a:pPr marL="171450" indent="-171450">
              <a:buFont typeface="Arial,Sans-Serif" panose="02110004020202020204"/>
              <a:buChar char="•"/>
            </a:pPr>
            <a:r>
              <a:rPr lang="en-US" err="1"/>
              <a:t>Funktioniert</a:t>
            </a:r>
            <a:r>
              <a:rPr lang="en-US" dirty="0"/>
              <a:t> </a:t>
            </a:r>
            <a:r>
              <a:rPr lang="en-US" err="1"/>
              <a:t>mit</a:t>
            </a:r>
            <a:r>
              <a:rPr lang="en-US" dirty="0"/>
              <a:t> </a:t>
            </a:r>
            <a:r>
              <a:rPr lang="en-US" err="1"/>
              <a:t>allen</a:t>
            </a:r>
            <a:r>
              <a:rPr lang="en-US" dirty="0"/>
              <a:t> </a:t>
            </a:r>
            <a:r>
              <a:rPr lang="en-US" err="1"/>
              <a:t>Architekturen</a:t>
            </a:r>
            <a:endParaRPr lang="en-US" dirty="0" err="1"/>
          </a:p>
          <a:p>
            <a:pPr marL="171450" indent="-171450">
              <a:buFont typeface="Arial,Sans-Serif" panose="02110004020202020204"/>
              <a:buChar char="•"/>
            </a:pPr>
            <a:r>
              <a:rPr lang="en-US" dirty="0" err="1"/>
              <a:t>Probleme</a:t>
            </a:r>
            <a:r>
              <a:rPr lang="en-US" dirty="0"/>
              <a:t>: </a:t>
            </a:r>
          </a:p>
          <a:p>
            <a:pPr lvl="1" indent="-171450">
              <a:buFont typeface="Courier New" panose="02110004020202020204"/>
              <a:buChar char="o"/>
            </a:pPr>
            <a:r>
              <a:rPr lang="en-US" dirty="0" err="1"/>
              <a:t>Geschwindigkeit</a:t>
            </a:r>
            <a:endParaRPr lang="en-US" dirty="0"/>
          </a:p>
          <a:p>
            <a:pPr lvl="1" indent="-171450">
              <a:buFont typeface="Courier New" panose="02110004020202020204"/>
              <a:buChar char="o"/>
            </a:pPr>
            <a:r>
              <a:rPr lang="en-US" dirty="0" err="1"/>
              <a:t>Demokratische</a:t>
            </a:r>
            <a:r>
              <a:rPr lang="en-US" dirty="0"/>
              <a:t> </a:t>
            </a:r>
            <a:r>
              <a:rPr lang="en-US" dirty="0" err="1"/>
              <a:t>Architekturen</a:t>
            </a:r>
            <a:r>
              <a:rPr lang="en-US" dirty="0"/>
              <a:t> </a:t>
            </a:r>
            <a:r>
              <a:rPr lang="en-US" dirty="0" err="1"/>
              <a:t>sind</a:t>
            </a:r>
            <a:r>
              <a:rPr lang="en-US" dirty="0"/>
              <a:t> </a:t>
            </a:r>
            <a:r>
              <a:rPr lang="en-US" dirty="0" err="1"/>
              <a:t>zu</a:t>
            </a:r>
            <a:r>
              <a:rPr lang="en-US" dirty="0"/>
              <a:t> </a:t>
            </a:r>
            <a:r>
              <a:rPr lang="en-US" dirty="0" err="1"/>
              <a:t>demokratisch</a:t>
            </a:r>
            <a:endParaRPr lang="en-US" dirty="0"/>
          </a:p>
          <a:p>
            <a:pPr lvl="1" indent="-171450">
              <a:buFont typeface="Courier New" panose="02110004020202020204"/>
              <a:buChar char="o"/>
            </a:pPr>
            <a:r>
              <a:rPr lang="en-US" dirty="0" err="1"/>
              <a:t>Anpassung</a:t>
            </a:r>
            <a:r>
              <a:rPr lang="en-US"/>
              <a:t> Instructions</a:t>
            </a:r>
            <a:endParaRPr lang="en-US" dirty="0"/>
          </a:p>
        </p:txBody>
      </p:sp>
      <p:sp>
        <p:nvSpPr>
          <p:cNvPr id="4" name="Foliennummernplatzhalter 3">
            <a:extLst>
              <a:ext uri="{FF2B5EF4-FFF2-40B4-BE49-F238E27FC236}">
                <a16:creationId xmlns:a16="http://schemas.microsoft.com/office/drawing/2014/main" id="{D426AC30-6E4F-5798-2863-1F3F3778EBBA}"/>
              </a:ext>
            </a:extLst>
          </p:cNvPr>
          <p:cNvSpPr>
            <a:spLocks noGrp="1"/>
          </p:cNvSpPr>
          <p:nvPr>
            <p:ph type="sldNum" sz="quarter" idx="5"/>
          </p:nvPr>
        </p:nvSpPr>
        <p:spPr/>
        <p:txBody>
          <a:bodyPr/>
          <a:lstStyle/>
          <a:p>
            <a:fld id="{266785B7-62CE-404D-85EF-61A2B5071F59}" type="slidenum">
              <a:rPr lang="en-US" smtClean="0"/>
              <a:t>19</a:t>
            </a:fld>
            <a:endParaRPr lang="en-US"/>
          </a:p>
        </p:txBody>
      </p:sp>
    </p:spTree>
    <p:extLst>
      <p:ext uri="{BB962C8B-B14F-4D97-AF65-F5344CB8AC3E}">
        <p14:creationId xmlns:p14="http://schemas.microsoft.com/office/powerpoint/2010/main" val="3122067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B14DC-03EA-6DA7-7C68-8D1EB610A58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234F8B-F121-0654-8348-35C5D235E35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CFB012E-46F5-EE4C-454B-7709A536C803}"/>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1B626540-17F1-84F8-0E5F-10EEDEAF967C}"/>
              </a:ext>
            </a:extLst>
          </p:cNvPr>
          <p:cNvSpPr>
            <a:spLocks noGrp="1"/>
          </p:cNvSpPr>
          <p:nvPr>
            <p:ph type="sldNum" sz="quarter" idx="5"/>
          </p:nvPr>
        </p:nvSpPr>
        <p:spPr/>
        <p:txBody>
          <a:bodyPr/>
          <a:lstStyle/>
          <a:p>
            <a:fld id="{266785B7-62CE-404D-85EF-61A2B5071F59}" type="slidenum">
              <a:rPr lang="en-US" smtClean="0"/>
              <a:t>20</a:t>
            </a:fld>
            <a:endParaRPr lang="en-US"/>
          </a:p>
        </p:txBody>
      </p:sp>
    </p:spTree>
    <p:extLst>
      <p:ext uri="{BB962C8B-B14F-4D97-AF65-F5344CB8AC3E}">
        <p14:creationId xmlns:p14="http://schemas.microsoft.com/office/powerpoint/2010/main" val="1378841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D79A-7503-4024-960C-1FDDB28BD21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D8DA31-DAC0-B5BE-B00F-B7021CA0257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63B13D3-8B7B-852D-8C11-BEB6AD319A34}"/>
              </a:ext>
            </a:extLst>
          </p:cNvPr>
          <p:cNvSpPr>
            <a:spLocks noGrp="1"/>
          </p:cNvSpPr>
          <p:nvPr>
            <p:ph type="body" idx="1"/>
          </p:nvPr>
        </p:nvSpPr>
        <p:spPr/>
        <p:txBody>
          <a:bodyPr/>
          <a:lstStyle/>
          <a:p>
            <a:pPr marL="0" indent="0">
              <a:buFont typeface="+mj-lt"/>
              <a:buNone/>
            </a:pPr>
            <a:r>
              <a:rPr lang="de-DE" dirty="0"/>
              <a:t>Open source Multi Robot </a:t>
            </a:r>
            <a:r>
              <a:rPr lang="de-DE" dirty="0" err="1"/>
              <a:t>simulation</a:t>
            </a:r>
            <a:r>
              <a:rPr lang="de-DE" dirty="0"/>
              <a:t> ros2 </a:t>
            </a:r>
            <a:r>
              <a:rPr lang="de-DE" dirty="0" err="1"/>
              <a:t>gazebo</a:t>
            </a:r>
            <a:r>
              <a:rPr lang="de-DE" dirty="0"/>
              <a:t> mit klassischem </a:t>
            </a:r>
            <a:r>
              <a:rPr lang="de-DE" dirty="0" err="1"/>
              <a:t>Turtlebot</a:t>
            </a:r>
            <a:r>
              <a:rPr lang="de-DE" dirty="0"/>
              <a:t> „Burger“</a:t>
            </a:r>
            <a:endParaRPr lang="en-US" dirty="0"/>
          </a:p>
        </p:txBody>
      </p:sp>
      <p:sp>
        <p:nvSpPr>
          <p:cNvPr id="4" name="Foliennummernplatzhalter 3">
            <a:extLst>
              <a:ext uri="{FF2B5EF4-FFF2-40B4-BE49-F238E27FC236}">
                <a16:creationId xmlns:a16="http://schemas.microsoft.com/office/drawing/2014/main" id="{B44ADB05-2DE8-FFAE-3C86-2522072A4079}"/>
              </a:ext>
            </a:extLst>
          </p:cNvPr>
          <p:cNvSpPr>
            <a:spLocks noGrp="1"/>
          </p:cNvSpPr>
          <p:nvPr>
            <p:ph type="sldNum" sz="quarter" idx="5"/>
          </p:nvPr>
        </p:nvSpPr>
        <p:spPr/>
        <p:txBody>
          <a:bodyPr/>
          <a:lstStyle/>
          <a:p>
            <a:fld id="{266785B7-62CE-404D-85EF-61A2B5071F59}" type="slidenum">
              <a:rPr lang="en-US" smtClean="0"/>
              <a:t>21</a:t>
            </a:fld>
            <a:endParaRPr lang="en-US"/>
          </a:p>
        </p:txBody>
      </p:sp>
    </p:spTree>
    <p:extLst>
      <p:ext uri="{BB962C8B-B14F-4D97-AF65-F5344CB8AC3E}">
        <p14:creationId xmlns:p14="http://schemas.microsoft.com/office/powerpoint/2010/main" val="1218861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Font typeface="+mj-lt"/>
              <a:buAutoNum type="arabicPeriod"/>
            </a:pPr>
            <a:r>
              <a:rPr lang="de-DE" dirty="0"/>
              <a:t>Natürliche Sprache in strukturierte Befehle</a:t>
            </a:r>
          </a:p>
          <a:p>
            <a:pPr marL="228600" indent="-228600">
              <a:buFont typeface="+mj-lt"/>
              <a:buAutoNum type="arabicPeriod"/>
            </a:pPr>
            <a:r>
              <a:rPr lang="de-DE" dirty="0" err="1"/>
              <a:t>Few-shot</a:t>
            </a:r>
            <a:r>
              <a:rPr lang="de-DE" dirty="0"/>
              <a:t> </a:t>
            </a:r>
            <a:r>
              <a:rPr lang="de-DE" dirty="0" err="1"/>
              <a:t>movement</a:t>
            </a:r>
            <a:r>
              <a:rPr lang="de-DE" dirty="0"/>
              <a:t> </a:t>
            </a:r>
            <a:r>
              <a:rPr lang="de-DE" dirty="0" err="1"/>
              <a:t>planning</a:t>
            </a:r>
            <a:endParaRPr lang="de-DE" dirty="0"/>
          </a:p>
          <a:p>
            <a:pPr marL="228600" indent="-228600">
              <a:buFont typeface="+mj-lt"/>
              <a:buAutoNum type="arabicPeriod"/>
            </a:pPr>
            <a:r>
              <a:rPr lang="de-DE" dirty="0" err="1"/>
              <a:t>Pathfinding</a:t>
            </a:r>
            <a:r>
              <a:rPr lang="de-DE" dirty="0"/>
              <a:t>/</a:t>
            </a:r>
            <a:r>
              <a:rPr lang="de-DE" dirty="0" err="1"/>
              <a:t>Wegfindungs</a:t>
            </a:r>
            <a:endParaRPr lang="en-US" dirty="0"/>
          </a:p>
        </p:txBody>
      </p:sp>
      <p:sp>
        <p:nvSpPr>
          <p:cNvPr id="4" name="Foliennummernplatzhalter 3"/>
          <p:cNvSpPr>
            <a:spLocks noGrp="1"/>
          </p:cNvSpPr>
          <p:nvPr>
            <p:ph type="sldNum" sz="quarter" idx="5"/>
          </p:nvPr>
        </p:nvSpPr>
        <p:spPr/>
        <p:txBody>
          <a:bodyPr/>
          <a:lstStyle/>
          <a:p>
            <a:fld id="{266785B7-62CE-404D-85EF-61A2B5071F59}" type="slidenum">
              <a:rPr lang="en-US" smtClean="0"/>
              <a:t>22</a:t>
            </a:fld>
            <a:endParaRPr lang="en-US"/>
          </a:p>
        </p:txBody>
      </p:sp>
    </p:spTree>
    <p:extLst>
      <p:ext uri="{BB962C8B-B14F-4D97-AF65-F5344CB8AC3E}">
        <p14:creationId xmlns:p14="http://schemas.microsoft.com/office/powerpoint/2010/main" val="3632237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004B1-9BAD-95FD-0F3D-F74CB5666D4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41A6FF1-8C73-7B1D-3C1F-DE0C803D2A0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E39C902-37B0-06F7-FF62-42E237E16BAD}"/>
              </a:ext>
            </a:extLst>
          </p:cNvPr>
          <p:cNvSpPr>
            <a:spLocks noGrp="1"/>
          </p:cNvSpPr>
          <p:nvPr>
            <p:ph type="body" idx="1"/>
          </p:nvPr>
        </p:nvSpPr>
        <p:spPr/>
        <p:txBody>
          <a:bodyPr/>
          <a:lstStyle/>
          <a:p>
            <a:pPr marL="228600" indent="-228600">
              <a:buFont typeface="+mj-lt"/>
              <a:buAutoNum type="arabicPeriod"/>
            </a:pPr>
            <a:r>
              <a:rPr lang="en-US" dirty="0" err="1"/>
              <a:t>Benutzer</a:t>
            </a:r>
            <a:r>
              <a:rPr lang="en-US" dirty="0"/>
              <a:t> </a:t>
            </a:r>
            <a:r>
              <a:rPr lang="en-US" dirty="0" err="1"/>
              <a:t>gibt</a:t>
            </a:r>
            <a:r>
              <a:rPr lang="en-US" dirty="0"/>
              <a:t> Aufgabe an </a:t>
            </a:r>
            <a:r>
              <a:rPr lang="en-US" dirty="0" err="1"/>
              <a:t>MasterAgent</a:t>
            </a:r>
            <a:endParaRPr lang="en-US" dirty="0"/>
          </a:p>
          <a:p>
            <a:pPr marL="228600" indent="-228600">
              <a:buFont typeface="+mj-lt"/>
              <a:buAutoNum type="arabicPeriod"/>
            </a:pPr>
            <a:r>
              <a:rPr lang="en-US" dirty="0"/>
              <a:t>Master Agent </a:t>
            </a:r>
            <a:r>
              <a:rPr lang="en-US" dirty="0" err="1"/>
              <a:t>entscheidet</a:t>
            </a:r>
            <a:r>
              <a:rPr lang="en-US" dirty="0"/>
              <a:t>, </a:t>
            </a:r>
            <a:r>
              <a:rPr lang="en-US" dirty="0" err="1"/>
              <a:t>wie</a:t>
            </a:r>
            <a:r>
              <a:rPr lang="en-US" dirty="0"/>
              <a:t> </a:t>
            </a:r>
            <a:r>
              <a:rPr lang="en-US" dirty="0" err="1"/>
              <a:t>viele</a:t>
            </a:r>
            <a:r>
              <a:rPr lang="en-US" dirty="0"/>
              <a:t> </a:t>
            </a:r>
            <a:r>
              <a:rPr lang="en-US" dirty="0" err="1"/>
              <a:t>Subagenten</a:t>
            </a:r>
            <a:r>
              <a:rPr lang="en-US" dirty="0"/>
              <a:t> er </a:t>
            </a:r>
            <a:r>
              <a:rPr lang="en-US" dirty="0" err="1"/>
              <a:t>gleichzeitig</a:t>
            </a:r>
            <a:r>
              <a:rPr lang="en-US" dirty="0"/>
              <a:t> </a:t>
            </a:r>
            <a:r>
              <a:rPr lang="en-US" dirty="0" err="1"/>
              <a:t>ansprechen</a:t>
            </a:r>
            <a:r>
              <a:rPr lang="en-US" dirty="0"/>
              <a:t> </a:t>
            </a:r>
            <a:r>
              <a:rPr lang="en-US" dirty="0" err="1"/>
              <a:t>soll</a:t>
            </a:r>
            <a:endParaRPr lang="en-US" dirty="0"/>
          </a:p>
          <a:p>
            <a:pPr marL="228600" indent="-228600">
              <a:buFont typeface="+mj-lt"/>
              <a:buAutoNum type="arabicPeriod"/>
            </a:pPr>
            <a:r>
              <a:rPr lang="en-US" dirty="0" err="1"/>
              <a:t>Subagenten</a:t>
            </a:r>
            <a:r>
              <a:rPr lang="en-US" dirty="0"/>
              <a:t> </a:t>
            </a:r>
            <a:r>
              <a:rPr lang="en-US" dirty="0" err="1"/>
              <a:t>arbeiten</a:t>
            </a:r>
            <a:r>
              <a:rPr lang="en-US" dirty="0"/>
              <a:t> autonomy</a:t>
            </a:r>
          </a:p>
          <a:p>
            <a:pPr marL="228600" indent="-228600">
              <a:buFont typeface="+mj-lt"/>
              <a:buAutoNum type="arabicPeriod"/>
            </a:pPr>
            <a:r>
              <a:rPr lang="en-US" dirty="0" err="1"/>
              <a:t>Benutzer</a:t>
            </a:r>
            <a:r>
              <a:rPr lang="en-US" dirty="0"/>
              <a:t> </a:t>
            </a:r>
            <a:r>
              <a:rPr lang="en-US" dirty="0" err="1"/>
              <a:t>kann</a:t>
            </a:r>
            <a:r>
              <a:rPr lang="en-US" dirty="0"/>
              <a:t> </a:t>
            </a:r>
            <a:r>
              <a:rPr lang="en-US" dirty="0" err="1"/>
              <a:t>Agenten</a:t>
            </a:r>
            <a:r>
              <a:rPr lang="en-US" dirty="0"/>
              <a:t> </a:t>
            </a:r>
            <a:r>
              <a:rPr lang="en-US" dirty="0" err="1"/>
              <a:t>auch</a:t>
            </a:r>
            <a:r>
              <a:rPr lang="en-US" dirty="0"/>
              <a:t> </a:t>
            </a:r>
            <a:r>
              <a:rPr lang="en-US" dirty="0" err="1"/>
              <a:t>persönlich</a:t>
            </a:r>
            <a:r>
              <a:rPr lang="en-US" dirty="0"/>
              <a:t> </a:t>
            </a:r>
            <a:r>
              <a:rPr lang="en-US" dirty="0" err="1"/>
              <a:t>anschreiben</a:t>
            </a:r>
            <a:endParaRPr lang="en-US" dirty="0"/>
          </a:p>
          <a:p>
            <a:pPr marL="228600" indent="-228600">
              <a:buFont typeface="+mj-lt"/>
              <a:buAutoNum type="arabicPeriod"/>
            </a:pPr>
            <a:r>
              <a:rPr lang="en-US" dirty="0" err="1"/>
              <a:t>Nachdem</a:t>
            </a:r>
            <a:r>
              <a:rPr lang="en-US" dirty="0"/>
              <a:t> die </a:t>
            </a:r>
            <a:r>
              <a:rPr lang="en-US" dirty="0" err="1"/>
              <a:t>Teilergebnisse</a:t>
            </a:r>
            <a:r>
              <a:rPr lang="en-US" dirty="0"/>
              <a:t> an den Master </a:t>
            </a:r>
            <a:r>
              <a:rPr lang="en-US" dirty="0" err="1"/>
              <a:t>Agenten</a:t>
            </a:r>
            <a:r>
              <a:rPr lang="en-US" dirty="0"/>
              <a:t> </a:t>
            </a:r>
            <a:r>
              <a:rPr lang="en-US" dirty="0" err="1"/>
              <a:t>gesendet</a:t>
            </a:r>
            <a:r>
              <a:rPr lang="en-US" dirty="0"/>
              <a:t> </a:t>
            </a:r>
            <a:r>
              <a:rPr lang="en-US" dirty="0" err="1"/>
              <a:t>wurden</a:t>
            </a:r>
            <a:r>
              <a:rPr lang="en-US" dirty="0"/>
              <a:t>, </a:t>
            </a:r>
            <a:r>
              <a:rPr lang="en-US" dirty="0" err="1"/>
              <a:t>werden</a:t>
            </a:r>
            <a:r>
              <a:rPr lang="en-US" dirty="0"/>
              <a:t> </a:t>
            </a:r>
            <a:r>
              <a:rPr lang="en-US" dirty="0" err="1"/>
              <a:t>sie</a:t>
            </a:r>
            <a:r>
              <a:rPr lang="en-US" dirty="0"/>
              <a:t> </a:t>
            </a:r>
            <a:r>
              <a:rPr lang="en-US" dirty="0" err="1"/>
              <a:t>analysiert</a:t>
            </a:r>
            <a:r>
              <a:rPr lang="en-US" dirty="0"/>
              <a:t> and </a:t>
            </a:r>
            <a:r>
              <a:rPr lang="en-US" dirty="0" err="1"/>
              <a:t>evaluiert</a:t>
            </a:r>
            <a:endParaRPr lang="en-US" dirty="0"/>
          </a:p>
          <a:p>
            <a:pPr marL="228600" indent="-228600">
              <a:buFont typeface="+mj-lt"/>
              <a:buAutoNum type="arabicPeriod"/>
            </a:pPr>
            <a:r>
              <a:rPr lang="en-US" dirty="0" err="1"/>
              <a:t>Eventuelle</a:t>
            </a:r>
            <a:r>
              <a:rPr lang="en-US" dirty="0"/>
              <a:t> </a:t>
            </a:r>
            <a:r>
              <a:rPr lang="en-US" dirty="0" err="1"/>
              <a:t>neue</a:t>
            </a:r>
            <a:r>
              <a:rPr lang="en-US" dirty="0"/>
              <a:t> </a:t>
            </a:r>
            <a:r>
              <a:rPr lang="en-US" dirty="0" err="1"/>
              <a:t>Aufgabenverteilung</a:t>
            </a:r>
            <a:endParaRPr lang="en-US" dirty="0"/>
          </a:p>
          <a:p>
            <a:pPr marL="228600" indent="-228600">
              <a:buFont typeface="+mj-lt"/>
              <a:buAutoNum type="arabicPeriod"/>
            </a:pPr>
            <a:r>
              <a:rPr lang="en-US" dirty="0" err="1"/>
              <a:t>Gesamtergbnis</a:t>
            </a:r>
            <a:r>
              <a:rPr lang="en-US" dirty="0"/>
              <a:t> </a:t>
            </a:r>
            <a:r>
              <a:rPr lang="en-US" dirty="0" err="1"/>
              <a:t>wird</a:t>
            </a:r>
            <a:r>
              <a:rPr lang="en-US" dirty="0"/>
              <a:t> an User </a:t>
            </a:r>
            <a:r>
              <a:rPr lang="en-US" dirty="0" err="1"/>
              <a:t>zurückgegeben</a:t>
            </a:r>
            <a:endParaRPr lang="en-US" dirty="0"/>
          </a:p>
          <a:p>
            <a:pPr marL="228600" indent="-228600">
              <a:buFont typeface="+mj-lt"/>
              <a:buAutoNum type="arabicPeriod"/>
            </a:pPr>
            <a:endParaRPr lang="en-US" dirty="0"/>
          </a:p>
          <a:p>
            <a:pPr marL="0" indent="0">
              <a:buFont typeface="+mj-lt"/>
              <a:buNone/>
            </a:pPr>
            <a:r>
              <a:rPr lang="en-US" dirty="0"/>
              <a:t>Alle </a:t>
            </a:r>
            <a:r>
              <a:rPr lang="en-US" dirty="0" err="1"/>
              <a:t>Agenten</a:t>
            </a:r>
            <a:r>
              <a:rPr lang="en-US" dirty="0"/>
              <a:t> </a:t>
            </a:r>
            <a:r>
              <a:rPr lang="en-US" dirty="0" err="1"/>
              <a:t>laufen</a:t>
            </a:r>
            <a:r>
              <a:rPr lang="en-US" dirty="0"/>
              <a:t> parallel und </a:t>
            </a:r>
            <a:r>
              <a:rPr lang="en-US" dirty="0" err="1"/>
              <a:t>autonom</a:t>
            </a:r>
            <a:endParaRPr lang="en-US" dirty="0"/>
          </a:p>
          <a:p>
            <a:pPr marL="228600" indent="-228600">
              <a:buFont typeface="+mj-lt"/>
              <a:buAutoNum type="arabicPeriod"/>
            </a:pPr>
            <a:endParaRPr lang="en-US" dirty="0"/>
          </a:p>
        </p:txBody>
      </p:sp>
      <p:sp>
        <p:nvSpPr>
          <p:cNvPr id="4" name="Foliennummernplatzhalter 3">
            <a:extLst>
              <a:ext uri="{FF2B5EF4-FFF2-40B4-BE49-F238E27FC236}">
                <a16:creationId xmlns:a16="http://schemas.microsoft.com/office/drawing/2014/main" id="{0FE68A58-50B8-B9B5-E2A1-409BC97F5419}"/>
              </a:ext>
            </a:extLst>
          </p:cNvPr>
          <p:cNvSpPr>
            <a:spLocks noGrp="1"/>
          </p:cNvSpPr>
          <p:nvPr>
            <p:ph type="sldNum" sz="quarter" idx="5"/>
          </p:nvPr>
        </p:nvSpPr>
        <p:spPr/>
        <p:txBody>
          <a:bodyPr/>
          <a:lstStyle/>
          <a:p>
            <a:fld id="{266785B7-62CE-404D-85EF-61A2B5071F59}" type="slidenum">
              <a:rPr lang="en-US" smtClean="0"/>
              <a:t>23</a:t>
            </a:fld>
            <a:endParaRPr lang="en-US"/>
          </a:p>
        </p:txBody>
      </p:sp>
    </p:spTree>
    <p:extLst>
      <p:ext uri="{BB962C8B-B14F-4D97-AF65-F5344CB8AC3E}">
        <p14:creationId xmlns:p14="http://schemas.microsoft.com/office/powerpoint/2010/main" val="94533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alt_einspalti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77373" y="1005840"/>
            <a:ext cx="11405656" cy="5316903"/>
          </a:xfrm>
          <a:prstGeom prst="rect">
            <a:avLst/>
          </a:prstGeom>
        </p:spPr>
        <p:txBody>
          <a:bodyPr>
            <a:normAutofit/>
          </a:bodyPr>
          <a:lstStyle>
            <a:lvl1pPr marL="300600" indent="-300600">
              <a:lnSpc>
                <a:spcPct val="100000"/>
              </a:lnSpc>
              <a:spcBef>
                <a:spcPts val="500"/>
              </a:spcBef>
              <a:spcAft>
                <a:spcPts val="200"/>
              </a:spcAft>
              <a:buClr>
                <a:srgbClr val="BA1F4E"/>
              </a:buClr>
              <a:buFont typeface="Wingdings" pitchFamily="2" charset="2"/>
              <a:buChar char="§"/>
              <a:defRPr sz="2400" b="0" i="0">
                <a:solidFill>
                  <a:srgbClr val="695C5D"/>
                </a:solidFill>
                <a:latin typeface="+mn-lt"/>
                <a:ea typeface="Helvetica Neue Light" charset="0"/>
                <a:cs typeface="Helvetica Neue Light" charset="0"/>
              </a:defRPr>
            </a:lvl1pPr>
            <a:lvl2pPr marL="685800" indent="-228600">
              <a:lnSpc>
                <a:spcPct val="100000"/>
              </a:lnSpc>
              <a:spcBef>
                <a:spcPts val="500"/>
              </a:spcBef>
              <a:spcAft>
                <a:spcPts val="200"/>
              </a:spcAft>
              <a:buClr>
                <a:srgbClr val="BA1F4E"/>
              </a:buClr>
              <a:buFont typeface="Wingdings" pitchFamily="2" charset="2"/>
              <a:buChar char="§"/>
              <a:defRPr sz="2000" b="0" i="0">
                <a:solidFill>
                  <a:srgbClr val="695C5D"/>
                </a:solidFill>
                <a:latin typeface="+mn-lt"/>
                <a:ea typeface="Helvetica Neue Light" charset="0"/>
                <a:cs typeface="Helvetica Neue Light" charset="0"/>
              </a:defRPr>
            </a:lvl2pPr>
            <a:lvl3pPr marL="1143000" indent="-228600">
              <a:lnSpc>
                <a:spcPct val="100000"/>
              </a:lnSpc>
              <a:spcBef>
                <a:spcPts val="500"/>
              </a:spcBef>
              <a:spcAft>
                <a:spcPts val="200"/>
              </a:spcAft>
              <a:buClr>
                <a:srgbClr val="BA1F4E"/>
              </a:buClr>
              <a:buFont typeface="Wingdings" pitchFamily="2" charset="2"/>
              <a:buChar char="§"/>
              <a:defRPr sz="1800" b="0" i="0">
                <a:solidFill>
                  <a:srgbClr val="695C5D"/>
                </a:solidFill>
                <a:latin typeface="+mn-lt"/>
                <a:ea typeface="Helvetica Neue Light" charset="0"/>
                <a:cs typeface="Helvetica Neue Light" charset="0"/>
              </a:defRPr>
            </a:lvl3pPr>
            <a:lvl4pPr marL="1600200" indent="-228600">
              <a:lnSpc>
                <a:spcPct val="100000"/>
              </a:lnSpc>
              <a:spcBef>
                <a:spcPts val="500"/>
              </a:spcBef>
              <a:spcAft>
                <a:spcPts val="200"/>
              </a:spcAft>
              <a:buClr>
                <a:srgbClr val="BA1F4E"/>
              </a:buClr>
              <a:buFont typeface="Wingdings" pitchFamily="2" charset="2"/>
              <a:buChar char="§"/>
              <a:defRPr sz="1600" b="0" i="0">
                <a:solidFill>
                  <a:srgbClr val="695C5D"/>
                </a:solidFill>
                <a:latin typeface="+mn-lt"/>
                <a:ea typeface="Helvetica Neue Light" charset="0"/>
                <a:cs typeface="Helvetica Neue Light" charset="0"/>
              </a:defRPr>
            </a:lvl4pPr>
            <a:lvl5pPr marL="2057400" indent="-228600">
              <a:lnSpc>
                <a:spcPct val="100000"/>
              </a:lnSpc>
              <a:spcBef>
                <a:spcPts val="500"/>
              </a:spcBef>
              <a:spcAft>
                <a:spcPts val="200"/>
              </a:spcAft>
              <a:buClr>
                <a:srgbClr val="BA1F4E"/>
              </a:buClr>
              <a:buFont typeface="Wingdings" pitchFamily="2" charset="2"/>
              <a:buChar char="§"/>
              <a:defRPr sz="1600" b="0" i="0">
                <a:solidFill>
                  <a:srgbClr val="695C5D"/>
                </a:solidFill>
                <a:latin typeface="+mn-lt"/>
                <a:ea typeface="Helvetica Neue Light" charset="0"/>
                <a:cs typeface="Helvetica Neue Light" charset="0"/>
              </a:defRPr>
            </a:lvl5pPr>
          </a:lstStyle>
          <a:p>
            <a:pPr lvl="0"/>
            <a:r>
              <a:rPr lang="de-DE" noProof="0" dirty="0"/>
              <a:t>Mastertextformat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4" name="Titel 7">
            <a:extLst>
              <a:ext uri="{FF2B5EF4-FFF2-40B4-BE49-F238E27FC236}">
                <a16:creationId xmlns:a16="http://schemas.microsoft.com/office/drawing/2014/main" id="{9B514113-0BB9-BF45-ACD9-16F1F228E8F2}"/>
              </a:ext>
            </a:extLst>
          </p:cNvPr>
          <p:cNvSpPr>
            <a:spLocks noGrp="1"/>
          </p:cNvSpPr>
          <p:nvPr>
            <p:ph type="title"/>
          </p:nvPr>
        </p:nvSpPr>
        <p:spPr>
          <a:xfrm>
            <a:off x="377373" y="137885"/>
            <a:ext cx="10385362" cy="696682"/>
          </a:xfrm>
          <a:prstGeom prst="rect">
            <a:avLst/>
          </a:prstGeom>
        </p:spPr>
        <p:txBody>
          <a:bodyPr anchor="ctr">
            <a:normAutofit/>
          </a:bodyPr>
          <a:lstStyle>
            <a:lvl1pPr algn="l">
              <a:defRPr sz="3600" b="0" i="0">
                <a:solidFill>
                  <a:srgbClr val="695C5D"/>
                </a:solidFill>
                <a:latin typeface="+mn-lt"/>
                <a:ea typeface="Helvetica Neue Light" charset="0"/>
                <a:cs typeface="Helvetica Neue Light" charset="0"/>
              </a:defRPr>
            </a:lvl1pPr>
          </a:lstStyle>
          <a:p>
            <a:r>
              <a:rPr lang="de-DE" noProof="0"/>
              <a:t>Mastertitelformat bearbeiten</a:t>
            </a:r>
            <a:endParaRPr lang="de-DE" noProof="0" dirty="0"/>
          </a:p>
        </p:txBody>
      </p:sp>
    </p:spTree>
    <p:extLst>
      <p:ext uri="{BB962C8B-B14F-4D97-AF65-F5344CB8AC3E}">
        <p14:creationId xmlns:p14="http://schemas.microsoft.com/office/powerpoint/2010/main" val="1752249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5" name="Rechteck 4"/>
          <p:cNvSpPr/>
          <p:nvPr userDrawn="1"/>
        </p:nvSpPr>
        <p:spPr>
          <a:xfrm>
            <a:off x="0" y="6511636"/>
            <a:ext cx="12192000" cy="3463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Dokument 13">
            <a:extLst>
              <a:ext uri="{FF2B5EF4-FFF2-40B4-BE49-F238E27FC236}">
                <a16:creationId xmlns:a16="http://schemas.microsoft.com/office/drawing/2014/main" id="{F9005855-30A0-1345-9115-64481C23E18B}"/>
              </a:ext>
            </a:extLst>
          </p:cNvPr>
          <p:cNvSpPr/>
          <p:nvPr userDrawn="1"/>
        </p:nvSpPr>
        <p:spPr>
          <a:xfrm>
            <a:off x="0" y="1174432"/>
            <a:ext cx="12192000" cy="5157787"/>
          </a:xfrm>
          <a:prstGeom prst="flowChartDocument">
            <a:avLst/>
          </a:prstGeom>
          <a:gradFill>
            <a:gsLst>
              <a:gs pos="5000">
                <a:schemeClr val="bg1"/>
              </a:gs>
              <a:gs pos="40000">
                <a:srgbClr val="C70E56"/>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Dokument 7">
            <a:extLst>
              <a:ext uri="{FF2B5EF4-FFF2-40B4-BE49-F238E27FC236}">
                <a16:creationId xmlns:a16="http://schemas.microsoft.com/office/drawing/2014/main" id="{B46D8E2B-64B0-ED48-A38C-74AA90A8F3E4}"/>
              </a:ext>
            </a:extLst>
          </p:cNvPr>
          <p:cNvSpPr/>
          <p:nvPr userDrawn="1"/>
        </p:nvSpPr>
        <p:spPr>
          <a:xfrm>
            <a:off x="0" y="0"/>
            <a:ext cx="12192000" cy="6275070"/>
          </a:xfrm>
          <a:prstGeom prst="flowChartDocumen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solidFill>
                <a:srgbClr val="695C5D"/>
              </a:solidFill>
            </a:endParaRPr>
          </a:p>
        </p:txBody>
      </p:sp>
      <p:sp>
        <p:nvSpPr>
          <p:cNvPr id="2" name="Titel 1"/>
          <p:cNvSpPr>
            <a:spLocks noGrp="1"/>
          </p:cNvSpPr>
          <p:nvPr>
            <p:ph type="ctrTitle"/>
          </p:nvPr>
        </p:nvSpPr>
        <p:spPr>
          <a:xfrm>
            <a:off x="507999" y="3479602"/>
            <a:ext cx="11030857" cy="831424"/>
          </a:xfrm>
          <a:prstGeom prst="rect">
            <a:avLst/>
          </a:prstGeom>
        </p:spPr>
        <p:txBody>
          <a:bodyPr lIns="288000" tIns="0" rIns="0" bIns="0" anchor="ctr">
            <a:normAutofit/>
          </a:bodyPr>
          <a:lstStyle>
            <a:lvl1pPr algn="l">
              <a:defRPr sz="6000" b="0" i="0">
                <a:solidFill>
                  <a:srgbClr val="695C5D"/>
                </a:solidFill>
                <a:latin typeface="Calibri" panose="020F0502020204030204" pitchFamily="34" charset="0"/>
                <a:ea typeface="Helvetica Neue Light" panose="02000403000000020004" pitchFamily="2" charset="0"/>
                <a:cs typeface="Calibri" panose="020F0502020204030204" pitchFamily="34" charset="0"/>
              </a:defRPr>
            </a:lvl1pPr>
          </a:lstStyle>
          <a:p>
            <a:r>
              <a:rPr lang="de-DE" noProof="0"/>
              <a:t>Mastertitelformat bearbeiten</a:t>
            </a:r>
            <a:endParaRPr lang="de-DE" noProof="0" dirty="0"/>
          </a:p>
        </p:txBody>
      </p:sp>
      <p:sp>
        <p:nvSpPr>
          <p:cNvPr id="3" name="Untertitel 2"/>
          <p:cNvSpPr>
            <a:spLocks noGrp="1"/>
          </p:cNvSpPr>
          <p:nvPr>
            <p:ph type="subTitle" idx="1" hasCustomPrompt="1"/>
          </p:nvPr>
        </p:nvSpPr>
        <p:spPr>
          <a:xfrm>
            <a:off x="507999" y="4425507"/>
            <a:ext cx="6510021" cy="1059951"/>
          </a:xfrm>
          <a:prstGeom prst="rect">
            <a:avLst/>
          </a:prstGeom>
        </p:spPr>
        <p:txBody>
          <a:bodyPr lIns="288000" tIns="0" rIns="0" bIns="0" anchor="t">
            <a:normAutofit/>
          </a:bodyPr>
          <a:lstStyle>
            <a:lvl1pPr marL="0" indent="0" algn="l">
              <a:buNone/>
              <a:defRPr sz="3200" b="0" i="0">
                <a:solidFill>
                  <a:srgbClr val="695C5D"/>
                </a:solidFill>
                <a:latin typeface="+mj-lt"/>
                <a:ea typeface="Helvetica Neue Thin"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dirty="0"/>
              <a:t>Master-Untertitelformat bearbeiten</a:t>
            </a:r>
          </a:p>
        </p:txBody>
      </p:sp>
      <p:pic>
        <p:nvPicPr>
          <p:cNvPr id="12" name="Grafik 11">
            <a:extLst>
              <a:ext uri="{FF2B5EF4-FFF2-40B4-BE49-F238E27FC236}">
                <a16:creationId xmlns:a16="http://schemas.microsoft.com/office/drawing/2014/main" id="{DD24622F-5F41-FA40-B70D-04BA327C69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24998" y="5635216"/>
            <a:ext cx="1467835" cy="1054394"/>
          </a:xfrm>
          <a:prstGeom prst="rect">
            <a:avLst/>
          </a:prstGeom>
        </p:spPr>
      </p:pic>
      <p:pic>
        <p:nvPicPr>
          <p:cNvPr id="7" name="Grafik 6">
            <a:extLst>
              <a:ext uri="{FF2B5EF4-FFF2-40B4-BE49-F238E27FC236}">
                <a16:creationId xmlns:a16="http://schemas.microsoft.com/office/drawing/2014/main" id="{3D96D106-2CAB-3B4E-8851-E4B82B9EAFA9}"/>
              </a:ext>
            </a:extLst>
          </p:cNvPr>
          <p:cNvPicPr>
            <a:picLocks noChangeAspect="1"/>
          </p:cNvPicPr>
          <p:nvPr userDrawn="1"/>
        </p:nvPicPr>
        <p:blipFill>
          <a:blip r:embed="rId3"/>
          <a:stretch>
            <a:fillRect/>
          </a:stretch>
        </p:blipFill>
        <p:spPr>
          <a:xfrm>
            <a:off x="416822" y="378103"/>
            <a:ext cx="1252221" cy="753598"/>
          </a:xfrm>
          <a:prstGeom prst="rect">
            <a:avLst/>
          </a:prstGeom>
        </p:spPr>
      </p:pic>
      <p:sp>
        <p:nvSpPr>
          <p:cNvPr id="24" name="Rechteck 23">
            <a:extLst>
              <a:ext uri="{FF2B5EF4-FFF2-40B4-BE49-F238E27FC236}">
                <a16:creationId xmlns:a16="http://schemas.microsoft.com/office/drawing/2014/main" id="{6A031E2B-55FF-7845-9604-7E37ABF48572}"/>
              </a:ext>
            </a:extLst>
          </p:cNvPr>
          <p:cNvSpPr/>
          <p:nvPr userDrawn="1"/>
        </p:nvSpPr>
        <p:spPr>
          <a:xfrm>
            <a:off x="558143" y="1044904"/>
            <a:ext cx="2893806" cy="307777"/>
          </a:xfrm>
          <a:prstGeom prst="rect">
            <a:avLst/>
          </a:prstGeom>
          <a:effectLst/>
        </p:spPr>
        <p:txBody>
          <a:bodyPr wrap="none">
            <a:spAutoFit/>
          </a:bodyPr>
          <a:lstStyle/>
          <a:p>
            <a:r>
              <a:rPr lang="de-DE" sz="1400" b="1" i="0" noProof="0" dirty="0">
                <a:solidFill>
                  <a:srgbClr val="9C9289"/>
                </a:solidFill>
                <a:latin typeface="Calibri" panose="020F0502020204030204" pitchFamily="34" charset="0"/>
                <a:ea typeface="Helvetica Neue" panose="02000503000000020004" pitchFamily="2" charset="0"/>
                <a:cs typeface="Calibri" panose="020F0502020204030204" pitchFamily="34" charset="0"/>
              </a:rPr>
              <a:t>Institut für Automatisierungstechnik</a:t>
            </a:r>
            <a:endParaRPr lang="de-DE" sz="1400" b="1" i="0" dirty="0">
              <a:solidFill>
                <a:srgbClr val="9C9289"/>
              </a:solidFill>
              <a:latin typeface="Calibri" panose="020F0502020204030204" pitchFamily="34" charset="0"/>
              <a:ea typeface="Helvetica Neue" panose="02000503000000020004" pitchFamily="2" charset="0"/>
              <a:cs typeface="Calibri" panose="020F0502020204030204" pitchFamily="34" charset="0"/>
            </a:endParaRPr>
          </a:p>
        </p:txBody>
      </p:sp>
    </p:spTree>
    <p:extLst>
      <p:ext uri="{BB962C8B-B14F-4D97-AF65-F5344CB8AC3E}">
        <p14:creationId xmlns:p14="http://schemas.microsoft.com/office/powerpoint/2010/main" val="12032913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feld 1"/>
          <p:cNvSpPr txBox="1"/>
          <p:nvPr userDrawn="1"/>
        </p:nvSpPr>
        <p:spPr>
          <a:xfrm>
            <a:off x="11577922" y="6578771"/>
            <a:ext cx="441146" cy="253916"/>
          </a:xfrm>
          <a:prstGeom prst="rect">
            <a:avLst/>
          </a:prstGeom>
          <a:noFill/>
        </p:spPr>
        <p:txBody>
          <a:bodyPr wrap="none" rtlCol="0">
            <a:spAutoFit/>
          </a:bodyPr>
          <a:lstStyle/>
          <a:p>
            <a:fld id="{ED8A764B-654C-4B53-BBC3-05D7072E8DFF}" type="slidenum">
              <a:rPr lang="de-DE" sz="1050" b="0" i="0" kern="1200" smtClean="0">
                <a:solidFill>
                  <a:schemeClr val="tx1"/>
                </a:solidFill>
                <a:latin typeface="+mj-lt"/>
                <a:ea typeface="Helvetica Neue Light" charset="0"/>
                <a:cs typeface="Helvetica Neue Light" charset="0"/>
              </a:rPr>
              <a:t>‹#›</a:t>
            </a:fld>
            <a:endParaRPr lang="de-DE" sz="1050" b="0" i="0" kern="1200" dirty="0">
              <a:solidFill>
                <a:schemeClr val="tx1"/>
              </a:solidFill>
              <a:latin typeface="+mj-lt"/>
              <a:ea typeface="Helvetica Neue Light" charset="0"/>
              <a:cs typeface="Helvetica Neue Light" charset="0"/>
            </a:endParaRPr>
          </a:p>
        </p:txBody>
      </p:sp>
      <p:sp>
        <p:nvSpPr>
          <p:cNvPr id="17" name="Rechteck 16"/>
          <p:cNvSpPr/>
          <p:nvPr userDrawn="1"/>
        </p:nvSpPr>
        <p:spPr>
          <a:xfrm>
            <a:off x="0" y="6545766"/>
            <a:ext cx="12191999" cy="3164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de-DE" sz="1050" b="0" i="0" noProof="0" dirty="0">
                <a:solidFill>
                  <a:schemeClr val="tx1"/>
                </a:solidFill>
                <a:latin typeface="+mj-lt"/>
                <a:ea typeface="Helvetica Neue Light" charset="0"/>
                <a:cs typeface="Helvetica Neue Light" charset="0"/>
              </a:rPr>
              <a:t>       Vergleichende Evaluation von LLM-Architekturen für Multi-Agenten-Roboter-Systeme  | </a:t>
            </a:r>
            <a:r>
              <a:rPr lang="de-DE" sz="1050" b="0" i="0" baseline="0" noProof="0" dirty="0">
                <a:solidFill>
                  <a:schemeClr val="tx1"/>
                </a:solidFill>
                <a:latin typeface="+mj-lt"/>
                <a:ea typeface="Helvetica Neue Light" charset="0"/>
                <a:cs typeface="Helvetica Neue Light" charset="0"/>
              </a:rPr>
              <a:t> 07.05.2025  |  Jan Lukas Dietrich  |  Institut für Automatisierungstechnik | Helmut-Schmidt-Universität Hamburg</a:t>
            </a:r>
            <a:endParaRPr lang="de-DE" sz="1050" b="0" i="0" noProof="0" dirty="0">
              <a:solidFill>
                <a:schemeClr val="tx1"/>
              </a:solidFill>
              <a:latin typeface="+mj-lt"/>
              <a:ea typeface="Helvetica Neue Light" charset="0"/>
              <a:cs typeface="Helvetica Neue Light" charset="0"/>
            </a:endParaRPr>
          </a:p>
        </p:txBody>
      </p:sp>
      <p:pic>
        <p:nvPicPr>
          <p:cNvPr id="6" name="Grafik 5">
            <a:extLst>
              <a:ext uri="{FF2B5EF4-FFF2-40B4-BE49-F238E27FC236}">
                <a16:creationId xmlns:a16="http://schemas.microsoft.com/office/drawing/2014/main" id="{FF631CB7-241C-9342-B46F-6CD18D55B1B6}"/>
              </a:ext>
            </a:extLst>
          </p:cNvPr>
          <p:cNvPicPr>
            <a:picLocks noChangeAspect="1"/>
          </p:cNvPicPr>
          <p:nvPr userDrawn="1"/>
        </p:nvPicPr>
        <p:blipFill>
          <a:blip r:embed="rId4"/>
          <a:stretch>
            <a:fillRect/>
          </a:stretch>
        </p:blipFill>
        <p:spPr>
          <a:xfrm>
            <a:off x="11025270" y="197983"/>
            <a:ext cx="977395" cy="588205"/>
          </a:xfrm>
          <a:prstGeom prst="rect">
            <a:avLst/>
          </a:prstGeom>
        </p:spPr>
      </p:pic>
      <p:sp>
        <p:nvSpPr>
          <p:cNvPr id="7" name="Rechteck 6">
            <a:extLst>
              <a:ext uri="{FF2B5EF4-FFF2-40B4-BE49-F238E27FC236}">
                <a16:creationId xmlns:a16="http://schemas.microsoft.com/office/drawing/2014/main" id="{1336229D-819A-C34F-9A43-9F1D374226BB}"/>
              </a:ext>
            </a:extLst>
          </p:cNvPr>
          <p:cNvSpPr/>
          <p:nvPr userDrawn="1"/>
        </p:nvSpPr>
        <p:spPr>
          <a:xfrm>
            <a:off x="0" y="170253"/>
            <a:ext cx="220134" cy="5823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357278193"/>
      </p:ext>
    </p:extLst>
  </p:cSld>
  <p:clrMap bg1="lt1" tx1="dk1" bg2="lt2" tx2="dk2" accent1="accent1" accent2="accent2" accent3="accent3" accent4="accent4" accent5="accent5" accent6="accent6" hlink="hlink" folHlink="folHlink"/>
  <p:sldLayoutIdLst>
    <p:sldLayoutId id="2147483650" r:id="rId1"/>
    <p:sldLayoutId id="2147483649"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webm"/><Relationship Id="rId1" Type="http://schemas.microsoft.com/office/2007/relationships/media" Target="../media/media1.webm"/><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webm"/><Relationship Id="rId1" Type="http://schemas.microsoft.com/office/2007/relationships/media" Target="../media/media2.webm"/><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webm"/><Relationship Id="rId1" Type="http://schemas.microsoft.com/office/2007/relationships/media" Target="../media/media3.webm"/><Relationship Id="rId5" Type="http://schemas.openxmlformats.org/officeDocument/2006/relationships/image" Target="../media/image3.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897C34-B5CF-1744-8FD0-22E32EB23815}"/>
              </a:ext>
            </a:extLst>
          </p:cNvPr>
          <p:cNvSpPr>
            <a:spLocks noGrp="1"/>
          </p:cNvSpPr>
          <p:nvPr>
            <p:ph type="ctrTitle"/>
          </p:nvPr>
        </p:nvSpPr>
        <p:spPr>
          <a:xfrm>
            <a:off x="507999" y="2681318"/>
            <a:ext cx="11030857" cy="831424"/>
          </a:xfrm>
        </p:spPr>
        <p:txBody>
          <a:bodyPr>
            <a:normAutofit fontScale="90000"/>
          </a:bodyPr>
          <a:lstStyle/>
          <a:p>
            <a:r>
              <a:rPr lang="de-DE">
                <a:latin typeface="Calibri"/>
                <a:ea typeface="Calibri"/>
                <a:cs typeface="Calibri"/>
              </a:rPr>
              <a:t>Vergleichende Evaluation von LLM-Architekturen für Multiagentensysteme kooperierender mobiler Roboter</a:t>
            </a:r>
            <a:r>
              <a:rPr lang="de-DE" dirty="0">
                <a:latin typeface="Calibri"/>
                <a:cs typeface="Calibri"/>
              </a:rPr>
              <a:t> </a:t>
            </a:r>
            <a:endParaRPr lang="en-US" dirty="0"/>
          </a:p>
        </p:txBody>
      </p:sp>
      <p:sp>
        <p:nvSpPr>
          <p:cNvPr id="3" name="Untertitel 2">
            <a:extLst>
              <a:ext uri="{FF2B5EF4-FFF2-40B4-BE49-F238E27FC236}">
                <a16:creationId xmlns:a16="http://schemas.microsoft.com/office/drawing/2014/main" id="{694CD3C2-17E3-A641-A1CA-6D4FB1CB725F}"/>
              </a:ext>
            </a:extLst>
          </p:cNvPr>
          <p:cNvSpPr>
            <a:spLocks noGrp="1"/>
          </p:cNvSpPr>
          <p:nvPr>
            <p:ph type="subTitle" idx="1"/>
          </p:nvPr>
        </p:nvSpPr>
        <p:spPr>
          <a:xfrm>
            <a:off x="507999" y="5114935"/>
            <a:ext cx="6510021" cy="1059951"/>
          </a:xfrm>
        </p:spPr>
        <p:txBody>
          <a:bodyPr/>
          <a:lstStyle/>
          <a:p>
            <a:r>
              <a:rPr lang="de-DE" dirty="0"/>
              <a:t>Jan Lukas Dietrich</a:t>
            </a:r>
          </a:p>
        </p:txBody>
      </p:sp>
    </p:spTree>
    <p:extLst>
      <p:ext uri="{BB962C8B-B14F-4D97-AF65-F5344CB8AC3E}">
        <p14:creationId xmlns:p14="http://schemas.microsoft.com/office/powerpoint/2010/main" val="1014145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E7C53-B248-7CE2-A60C-B6FEAE94ED93}"/>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E10AD8D4-FF71-A244-F009-D41B3C556AAC}"/>
              </a:ext>
            </a:extLst>
          </p:cNvPr>
          <p:cNvSpPr>
            <a:spLocks noGrp="1"/>
          </p:cNvSpPr>
          <p:nvPr>
            <p:ph idx="1"/>
          </p:nvPr>
        </p:nvSpPr>
        <p:spPr/>
        <p:txBody>
          <a:bodyPr lIns="91440" tIns="45720" rIns="91440" bIns="45720" anchor="t">
            <a:normAutofit fontScale="92500" lnSpcReduction="10000"/>
          </a:bodyPr>
          <a:lstStyle/>
          <a:p>
            <a:pPr marL="0" indent="0">
              <a:buNone/>
            </a:pPr>
            <a:endParaRPr lang="en-US" sz="3200" dirty="0">
              <a:latin typeface="Aptos"/>
            </a:endParaRPr>
          </a:p>
          <a:p>
            <a:pPr marL="300355" indent="-300355">
              <a:buAutoNum type="arabicPeriod"/>
            </a:pPr>
            <a:r>
              <a:rPr lang="de-DE" sz="3200"/>
              <a:t>Forschungsfrage</a:t>
            </a:r>
            <a:endParaRPr lang="de-DE" sz="3200" dirty="0"/>
          </a:p>
          <a:p>
            <a:pPr marL="300355" indent="-300355">
              <a:buAutoNum type="arabicPeriod"/>
            </a:pPr>
            <a:endParaRPr lang="de-DE" sz="3200" dirty="0"/>
          </a:p>
          <a:p>
            <a:pPr marL="300355" indent="-300355">
              <a:buAutoNum type="arabicPeriod"/>
            </a:pPr>
            <a:r>
              <a:rPr lang="de-DE" sz="3200"/>
              <a:t>Motivation</a:t>
            </a:r>
            <a:endParaRPr lang="de-DE" sz="3200" dirty="0"/>
          </a:p>
          <a:p>
            <a:pPr marL="300355" indent="-300355">
              <a:buAutoNum type="arabicPeriod"/>
            </a:pPr>
            <a:endParaRPr lang="de-DE" sz="3200" dirty="0"/>
          </a:p>
          <a:p>
            <a:pPr marL="300355" indent="-300355">
              <a:buAutoNum type="arabicPeriod"/>
            </a:pPr>
            <a:r>
              <a:rPr lang="de-DE" sz="3200"/>
              <a:t>Architekturen</a:t>
            </a:r>
            <a:endParaRPr lang="de-DE" sz="3200" dirty="0"/>
          </a:p>
          <a:p>
            <a:pPr marL="300355" indent="-300355">
              <a:buAutoNum type="arabicPeriod"/>
            </a:pPr>
            <a:endParaRPr lang="de-DE" sz="3200" dirty="0"/>
          </a:p>
          <a:p>
            <a:pPr marL="300355" indent="-300355">
              <a:buAutoNum type="arabicPeriod"/>
            </a:pPr>
            <a:r>
              <a:rPr lang="de-DE" sz="3200"/>
              <a:t>Experimente</a:t>
            </a:r>
            <a:endParaRPr lang="de-DE" sz="3200" dirty="0"/>
          </a:p>
          <a:p>
            <a:pPr marL="300355" indent="-300355">
              <a:buAutoNum type="arabicPeriod"/>
            </a:pPr>
            <a:endParaRPr lang="de-DE" sz="3200" dirty="0"/>
          </a:p>
          <a:p>
            <a:pPr marL="300355" indent="-300355">
              <a:buAutoNum type="arabicPeriod"/>
            </a:pPr>
            <a:r>
              <a:rPr lang="de-DE" sz="3200"/>
              <a:t>Mögliche Veränderungen</a:t>
            </a:r>
            <a:endParaRPr lang="de-DE" sz="3200" dirty="0"/>
          </a:p>
          <a:p>
            <a:pPr>
              <a:buAutoNum type="arabicPeriod"/>
            </a:pPr>
            <a:endParaRPr lang="de-DE" dirty="0"/>
          </a:p>
          <a:p>
            <a:pPr>
              <a:buAutoNum type="arabicPeriod"/>
            </a:pPr>
            <a:endParaRPr lang="de-DE" dirty="0"/>
          </a:p>
          <a:p>
            <a:pPr>
              <a:buFont typeface="Wingdings" pitchFamily="2" charset="2"/>
              <a:buAutoNum type="arabicPeriod"/>
            </a:pPr>
            <a:endParaRPr lang="de-DE" dirty="0"/>
          </a:p>
          <a:p>
            <a:pPr marL="457200" indent="-457200">
              <a:buFont typeface="+mj-lt"/>
              <a:buAutoNum type="arabicPeriod"/>
            </a:pPr>
            <a:endParaRPr lang="de-DE" dirty="0"/>
          </a:p>
        </p:txBody>
      </p:sp>
      <p:sp>
        <p:nvSpPr>
          <p:cNvPr id="3" name="Titel 2">
            <a:extLst>
              <a:ext uri="{FF2B5EF4-FFF2-40B4-BE49-F238E27FC236}">
                <a16:creationId xmlns:a16="http://schemas.microsoft.com/office/drawing/2014/main" id="{7E4999DA-898F-4A2F-C320-36250D35B0F0}"/>
              </a:ext>
            </a:extLst>
          </p:cNvPr>
          <p:cNvSpPr>
            <a:spLocks noGrp="1"/>
          </p:cNvSpPr>
          <p:nvPr>
            <p:ph type="title"/>
          </p:nvPr>
        </p:nvSpPr>
        <p:spPr/>
        <p:txBody>
          <a:bodyPr lIns="91440" tIns="45720" rIns="91440" bIns="45720" anchor="ctr">
            <a:normAutofit/>
          </a:bodyPr>
          <a:lstStyle/>
          <a:p>
            <a:r>
              <a:rPr lang="de-DE">
                <a:latin typeface="Aptos"/>
              </a:rPr>
              <a:t>Struktur</a:t>
            </a:r>
            <a:endParaRPr lang="en-US"/>
          </a:p>
        </p:txBody>
      </p:sp>
    </p:spTree>
    <p:extLst>
      <p:ext uri="{BB962C8B-B14F-4D97-AF65-F5344CB8AC3E}">
        <p14:creationId xmlns:p14="http://schemas.microsoft.com/office/powerpoint/2010/main" val="223678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E25E-909B-CE77-2DA0-2C1B24F6EB3A}"/>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9414DACC-6C70-8B07-D184-8D92105AE7EA}"/>
              </a:ext>
            </a:extLst>
          </p:cNvPr>
          <p:cNvSpPr>
            <a:spLocks noGrp="1"/>
          </p:cNvSpPr>
          <p:nvPr>
            <p:ph idx="1"/>
          </p:nvPr>
        </p:nvSpPr>
        <p:spPr/>
        <p:txBody>
          <a:bodyPr lIns="91440" tIns="45720" rIns="91440" bIns="45720" anchor="t">
            <a:normAutofit/>
          </a:bodyPr>
          <a:lstStyle/>
          <a:p>
            <a:pPr marL="0" indent="0">
              <a:buNone/>
            </a:pPr>
            <a:endParaRPr lang="en-US" sz="3200" dirty="0">
              <a:latin typeface="Aptos"/>
            </a:endParaRPr>
          </a:p>
          <a:p>
            <a:pPr marL="0" indent="0">
              <a:buNone/>
            </a:pPr>
            <a:endParaRPr lang="en-US" sz="3200" dirty="0">
              <a:latin typeface="Aptos"/>
            </a:endParaRPr>
          </a:p>
          <a:p>
            <a:pPr marL="0" indent="0">
              <a:buNone/>
            </a:pPr>
            <a:r>
              <a:rPr lang="en-US" sz="3200" dirty="0">
                <a:latin typeface="Aptos"/>
              </a:rPr>
              <a:t>Wie </a:t>
            </a:r>
            <a:r>
              <a:rPr lang="en-US" sz="3200" dirty="0" err="1">
                <a:latin typeface="Aptos"/>
              </a:rPr>
              <a:t>beeinflusst</a:t>
            </a:r>
            <a:r>
              <a:rPr lang="en-US" sz="3200" dirty="0">
                <a:latin typeface="Aptos"/>
              </a:rPr>
              <a:t> die Wahl der LLM-</a:t>
            </a:r>
            <a:r>
              <a:rPr lang="en-US" sz="3200" dirty="0" err="1">
                <a:latin typeface="Aptos"/>
              </a:rPr>
              <a:t>Agentenarchitektur</a:t>
            </a:r>
            <a:r>
              <a:rPr lang="en-US" sz="3200" dirty="0">
                <a:latin typeface="Aptos"/>
              </a:rPr>
              <a:t> die </a:t>
            </a:r>
            <a:r>
              <a:rPr lang="en-US" sz="3200" dirty="0" err="1">
                <a:latin typeface="Aptos"/>
              </a:rPr>
              <a:t>Leistungsfähigkeit</a:t>
            </a:r>
            <a:r>
              <a:rPr lang="en-US" sz="3200" dirty="0">
                <a:latin typeface="Aptos"/>
              </a:rPr>
              <a:t>, </a:t>
            </a:r>
            <a:r>
              <a:rPr lang="en-US" sz="3200" dirty="0" err="1">
                <a:latin typeface="Aptos"/>
              </a:rPr>
              <a:t>Robustheit</a:t>
            </a:r>
            <a:r>
              <a:rPr lang="en-US" sz="3200" dirty="0">
                <a:latin typeface="Aptos"/>
              </a:rPr>
              <a:t>, </a:t>
            </a:r>
            <a:r>
              <a:rPr lang="en-US" sz="3200" dirty="0" err="1">
                <a:latin typeface="Aptos"/>
              </a:rPr>
              <a:t>Skalierbarkeit</a:t>
            </a:r>
            <a:r>
              <a:rPr lang="en-US" sz="3200" dirty="0">
                <a:latin typeface="Aptos"/>
              </a:rPr>
              <a:t> und den </a:t>
            </a:r>
            <a:r>
              <a:rPr lang="en-US" sz="3200" dirty="0" err="1">
                <a:latin typeface="Aptos"/>
              </a:rPr>
              <a:t>Kommunikationsaufwand</a:t>
            </a:r>
            <a:r>
              <a:rPr lang="en-US" sz="3200" dirty="0">
                <a:latin typeface="Aptos"/>
              </a:rPr>
              <a:t> </a:t>
            </a:r>
            <a:r>
              <a:rPr lang="en-US" sz="3200" dirty="0" err="1">
                <a:latin typeface="Aptos"/>
              </a:rPr>
              <a:t>eines</a:t>
            </a:r>
            <a:r>
              <a:rPr lang="en-US" sz="3200" dirty="0">
                <a:latin typeface="Aptos"/>
              </a:rPr>
              <a:t> </a:t>
            </a:r>
            <a:r>
              <a:rPr lang="en-US" sz="3200" dirty="0" err="1">
                <a:latin typeface="Aptos"/>
              </a:rPr>
              <a:t>Multiagentensystems</a:t>
            </a:r>
            <a:r>
              <a:rPr lang="en-US" sz="3200" dirty="0">
                <a:latin typeface="Aptos"/>
              </a:rPr>
              <a:t> </a:t>
            </a:r>
            <a:r>
              <a:rPr lang="en-US" sz="3200" dirty="0" err="1">
                <a:latin typeface="Aptos"/>
              </a:rPr>
              <a:t>kooperierender</a:t>
            </a:r>
            <a:r>
              <a:rPr lang="en-US" sz="3200" dirty="0">
                <a:latin typeface="Aptos"/>
              </a:rPr>
              <a:t> </a:t>
            </a:r>
            <a:r>
              <a:rPr lang="en-US" sz="3200" dirty="0" err="1">
                <a:latin typeface="Aptos"/>
              </a:rPr>
              <a:t>mobiler</a:t>
            </a:r>
            <a:r>
              <a:rPr lang="en-US" sz="3200" dirty="0">
                <a:latin typeface="Aptos"/>
              </a:rPr>
              <a:t> </a:t>
            </a:r>
            <a:r>
              <a:rPr lang="en-US" sz="3200" dirty="0" err="1">
                <a:latin typeface="Aptos"/>
              </a:rPr>
              <a:t>Roboter</a:t>
            </a:r>
            <a:r>
              <a:rPr lang="en-US" sz="3200" dirty="0">
                <a:latin typeface="Aptos"/>
              </a:rPr>
              <a:t> </a:t>
            </a:r>
            <a:r>
              <a:rPr lang="en-US" sz="3200" dirty="0" err="1">
                <a:latin typeface="Aptos"/>
              </a:rPr>
              <a:t>unter</a:t>
            </a:r>
            <a:r>
              <a:rPr lang="en-US" sz="3200" dirty="0">
                <a:latin typeface="Aptos"/>
              </a:rPr>
              <a:t> </a:t>
            </a:r>
            <a:r>
              <a:rPr lang="en-US" sz="3200" dirty="0" err="1">
                <a:latin typeface="Aptos"/>
              </a:rPr>
              <a:t>einheitlichen</a:t>
            </a:r>
            <a:r>
              <a:rPr lang="en-US" sz="3200" dirty="0">
                <a:latin typeface="Aptos"/>
              </a:rPr>
              <a:t> und </a:t>
            </a:r>
            <a:r>
              <a:rPr lang="en-US" sz="3200" dirty="0" err="1">
                <a:latin typeface="Aptos"/>
              </a:rPr>
              <a:t>reproduzierbaren</a:t>
            </a:r>
            <a:r>
              <a:rPr lang="en-US" sz="3200" dirty="0">
                <a:latin typeface="Aptos"/>
              </a:rPr>
              <a:t> </a:t>
            </a:r>
            <a:r>
              <a:rPr lang="en-US" sz="3200" dirty="0" err="1">
                <a:latin typeface="Aptos"/>
              </a:rPr>
              <a:t>Versuchsbedingungen</a:t>
            </a:r>
            <a:r>
              <a:rPr lang="en-US" sz="3200" dirty="0">
                <a:latin typeface="Aptos"/>
              </a:rPr>
              <a:t>?</a:t>
            </a:r>
            <a:endParaRPr lang="de-DE" sz="3200"/>
          </a:p>
          <a:p>
            <a:pPr marL="300355" indent="-300355"/>
            <a:endParaRPr lang="de-DE" sz="3200" dirty="0"/>
          </a:p>
          <a:p>
            <a:endParaRPr lang="de-DE" dirty="0"/>
          </a:p>
          <a:p>
            <a:endParaRPr lang="de-DE" dirty="0"/>
          </a:p>
          <a:p>
            <a:endParaRPr lang="de-DE" dirty="0"/>
          </a:p>
          <a:p>
            <a:pPr marL="457200" indent="-457200">
              <a:buFont typeface="+mj-lt"/>
              <a:buAutoNum type="arabicPeriod"/>
            </a:pPr>
            <a:endParaRPr lang="de-DE" dirty="0"/>
          </a:p>
        </p:txBody>
      </p:sp>
      <p:sp>
        <p:nvSpPr>
          <p:cNvPr id="3" name="Titel 2">
            <a:extLst>
              <a:ext uri="{FF2B5EF4-FFF2-40B4-BE49-F238E27FC236}">
                <a16:creationId xmlns:a16="http://schemas.microsoft.com/office/drawing/2014/main" id="{E9EC37C2-5498-B809-AD56-69D13B153837}"/>
              </a:ext>
            </a:extLst>
          </p:cNvPr>
          <p:cNvSpPr>
            <a:spLocks noGrp="1"/>
          </p:cNvSpPr>
          <p:nvPr>
            <p:ph type="title"/>
          </p:nvPr>
        </p:nvSpPr>
        <p:spPr/>
        <p:txBody>
          <a:bodyPr lIns="91440" tIns="45720" rIns="91440" bIns="45720" anchor="ctr">
            <a:normAutofit/>
          </a:bodyPr>
          <a:lstStyle/>
          <a:p>
            <a:r>
              <a:rPr lang="de-DE">
                <a:latin typeface="Aptos"/>
              </a:rPr>
              <a:t>Forschungsfrage</a:t>
            </a:r>
            <a:endParaRPr lang="en-US"/>
          </a:p>
        </p:txBody>
      </p:sp>
    </p:spTree>
    <p:extLst>
      <p:ext uri="{BB962C8B-B14F-4D97-AF65-F5344CB8AC3E}">
        <p14:creationId xmlns:p14="http://schemas.microsoft.com/office/powerpoint/2010/main" val="2693387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6812F608-63E9-DA42-A845-DCE224CAEF3D}"/>
              </a:ext>
            </a:extLst>
          </p:cNvPr>
          <p:cNvSpPr>
            <a:spLocks noGrp="1"/>
          </p:cNvSpPr>
          <p:nvPr>
            <p:ph idx="1"/>
          </p:nvPr>
        </p:nvSpPr>
        <p:spPr/>
        <p:txBody>
          <a:bodyPr lIns="91440" tIns="45720" rIns="91440" bIns="45720" anchor="t">
            <a:normAutofit/>
          </a:bodyPr>
          <a:lstStyle/>
          <a:p>
            <a:pPr marL="0" indent="0">
              <a:buNone/>
            </a:pPr>
            <a:endParaRPr lang="de-DE" b="1" dirty="0"/>
          </a:p>
          <a:p>
            <a:pPr marL="0" indent="0">
              <a:buNone/>
            </a:pPr>
            <a:r>
              <a:rPr lang="de-DE" b="1"/>
              <a:t>Es gibt zwar LLM-basierte MARS,  aber es fehlt…</a:t>
            </a:r>
            <a:endParaRPr lang="de-DE" b="1" dirty="0"/>
          </a:p>
          <a:p>
            <a:pPr marL="0" indent="0">
              <a:buNone/>
            </a:pPr>
            <a:endParaRPr lang="de-DE" b="1" dirty="0"/>
          </a:p>
          <a:p>
            <a:pPr marL="300355" indent="-300355">
              <a:buFont typeface="Arial" pitchFamily="2" charset="2"/>
              <a:buChar char="•"/>
            </a:pPr>
            <a:r>
              <a:rPr lang="de-DE"/>
              <a:t>Experimentelle Gegenüberstellung von verschiedenen LLM-Agentenarchitekturen</a:t>
            </a:r>
            <a:endParaRPr lang="de-DE" dirty="0"/>
          </a:p>
          <a:p>
            <a:pPr marL="300355" indent="-300355">
              <a:buFont typeface="Arial" pitchFamily="2" charset="2"/>
              <a:buChar char="•"/>
            </a:pPr>
            <a:endParaRPr lang="de-DE" dirty="0">
              <a:latin typeface="Calibri"/>
            </a:endParaRPr>
          </a:p>
          <a:p>
            <a:pPr marL="300355" indent="-300355">
              <a:buFont typeface="Arial" pitchFamily="2" charset="2"/>
              <a:buChar char="•"/>
            </a:pPr>
            <a:r>
              <a:rPr lang="de-DE">
                <a:latin typeface="Calibri"/>
              </a:rPr>
              <a:t>Integration in ROS2</a:t>
            </a:r>
            <a:endParaRPr lang="de-DE" dirty="0">
              <a:latin typeface="Calibri"/>
            </a:endParaRPr>
          </a:p>
          <a:p>
            <a:pPr marL="300355" indent="-300355">
              <a:buFont typeface="Arial" pitchFamily="2" charset="2"/>
              <a:buChar char="•"/>
            </a:pPr>
            <a:endParaRPr lang="de-DE" dirty="0">
              <a:latin typeface="Calibri"/>
            </a:endParaRPr>
          </a:p>
          <a:p>
            <a:pPr marL="300355" indent="-300355">
              <a:buFont typeface="Arial" pitchFamily="2" charset="2"/>
              <a:buChar char="•"/>
            </a:pPr>
            <a:r>
              <a:rPr lang="de-DE">
                <a:latin typeface="Calibri"/>
              </a:rPr>
              <a:t>Direkte Agent-zu-Agent-Kommunikation</a:t>
            </a:r>
            <a:endParaRPr lang="de-DE" dirty="0">
              <a:latin typeface="Calibri"/>
            </a:endParaRPr>
          </a:p>
          <a:p>
            <a:pPr marL="300355" indent="-300355">
              <a:buFont typeface="Arial" pitchFamily="2" charset="2"/>
              <a:buChar char="•"/>
            </a:pPr>
            <a:endParaRPr lang="de-DE" dirty="0">
              <a:latin typeface="Calibri"/>
            </a:endParaRPr>
          </a:p>
          <a:p>
            <a:pPr marL="300355" indent="-300355">
              <a:buFont typeface="Arial" pitchFamily="2" charset="2"/>
              <a:buChar char="•"/>
            </a:pPr>
            <a:r>
              <a:rPr lang="de-DE" dirty="0">
                <a:latin typeface="Calibri"/>
              </a:rPr>
              <a:t>Modernen Frameworks (</a:t>
            </a:r>
            <a:r>
              <a:rPr lang="de-DE" dirty="0" err="1">
                <a:latin typeface="Calibri"/>
              </a:rPr>
              <a:t>Langchain</a:t>
            </a:r>
            <a:r>
              <a:rPr lang="de-DE" dirty="0">
                <a:latin typeface="Calibri"/>
              </a:rPr>
              <a:t>, </a:t>
            </a:r>
            <a:r>
              <a:rPr lang="de-DE" dirty="0" err="1">
                <a:latin typeface="Calibri"/>
              </a:rPr>
              <a:t>ReAct</a:t>
            </a:r>
            <a:r>
              <a:rPr lang="de-DE" dirty="0">
                <a:latin typeface="Calibri"/>
              </a:rPr>
              <a:t>, MCP, etc. …)</a:t>
            </a:r>
          </a:p>
          <a:p>
            <a:pPr marL="0" indent="0">
              <a:buNone/>
            </a:pPr>
            <a:endParaRPr lang="de-DE" dirty="0">
              <a:latin typeface="Calibri"/>
            </a:endParaRPr>
          </a:p>
          <a:p>
            <a:pPr marL="0" indent="0">
              <a:buNone/>
            </a:pPr>
            <a:endParaRPr lang="en-US" dirty="0">
              <a:latin typeface="Aptos"/>
            </a:endParaRPr>
          </a:p>
        </p:txBody>
      </p:sp>
      <p:sp>
        <p:nvSpPr>
          <p:cNvPr id="3" name="Titel 2">
            <a:extLst>
              <a:ext uri="{FF2B5EF4-FFF2-40B4-BE49-F238E27FC236}">
                <a16:creationId xmlns:a16="http://schemas.microsoft.com/office/drawing/2014/main" id="{CAFD9458-BCA8-9F47-B653-EC2F6B842985}"/>
              </a:ext>
            </a:extLst>
          </p:cNvPr>
          <p:cNvSpPr>
            <a:spLocks noGrp="1"/>
          </p:cNvSpPr>
          <p:nvPr>
            <p:ph type="title"/>
          </p:nvPr>
        </p:nvSpPr>
        <p:spPr/>
        <p:txBody>
          <a:bodyPr lIns="91440" tIns="45720" rIns="91440" bIns="45720" anchor="ctr">
            <a:normAutofit/>
          </a:bodyPr>
          <a:lstStyle/>
          <a:p>
            <a:r>
              <a:rPr lang="de-DE">
                <a:latin typeface="Aptos"/>
              </a:rPr>
              <a:t>Motivation</a:t>
            </a:r>
            <a:endParaRPr lang="en-US"/>
          </a:p>
        </p:txBody>
      </p:sp>
    </p:spTree>
    <p:extLst>
      <p:ext uri="{BB962C8B-B14F-4D97-AF65-F5344CB8AC3E}">
        <p14:creationId xmlns:p14="http://schemas.microsoft.com/office/powerpoint/2010/main" val="888932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BEB9-A1DC-F4CE-E56B-CAF0801E824C}"/>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2D58BFAB-3FF5-C01D-E5CF-FF26A82403C1}"/>
              </a:ext>
            </a:extLst>
          </p:cNvPr>
          <p:cNvSpPr>
            <a:spLocks noGrp="1"/>
          </p:cNvSpPr>
          <p:nvPr>
            <p:ph idx="1"/>
          </p:nvPr>
        </p:nvSpPr>
        <p:spPr/>
        <p:txBody>
          <a:bodyPr lIns="91440" tIns="45720" rIns="91440" bIns="45720" anchor="t">
            <a:normAutofit/>
          </a:bodyPr>
          <a:lstStyle/>
          <a:p>
            <a:pPr marL="0" indent="0">
              <a:buNone/>
            </a:pPr>
            <a:endParaRPr lang="de-DE" dirty="0"/>
          </a:p>
          <a:p>
            <a:pPr marL="457200" indent="-457200">
              <a:buAutoNum type="arabicPeriod"/>
            </a:pPr>
            <a:r>
              <a:rPr lang="de-DE">
                <a:latin typeface="Aptos"/>
              </a:rPr>
              <a:t>Zentral</a:t>
            </a:r>
            <a:endParaRPr lang="en-US">
              <a:latin typeface="Aptos"/>
            </a:endParaRPr>
          </a:p>
          <a:p>
            <a:pPr marL="457200" indent="-457200">
              <a:buAutoNum type="arabicPeriod"/>
            </a:pPr>
            <a:endParaRPr lang="de-DE" dirty="0">
              <a:latin typeface="Aptos"/>
            </a:endParaRPr>
          </a:p>
          <a:p>
            <a:pPr marL="457200" indent="-457200">
              <a:buAutoNum type="arabicPeriod"/>
            </a:pPr>
            <a:r>
              <a:rPr lang="de-DE">
                <a:latin typeface="Aptos"/>
              </a:rPr>
              <a:t>Dezentral</a:t>
            </a:r>
          </a:p>
          <a:p>
            <a:pPr marL="457200" indent="-457200">
              <a:buAutoNum type="arabicPeriod"/>
            </a:pPr>
            <a:endParaRPr lang="de-DE" dirty="0">
              <a:latin typeface="Aptos"/>
            </a:endParaRPr>
          </a:p>
          <a:p>
            <a:pPr marL="457200" indent="-457200">
              <a:buAutoNum type="arabicPeriod"/>
            </a:pPr>
            <a:r>
              <a:rPr lang="de-DE">
                <a:latin typeface="Aptos"/>
              </a:rPr>
              <a:t>Hybrid</a:t>
            </a:r>
            <a:endParaRPr lang="de-DE"/>
          </a:p>
          <a:p>
            <a:pPr marL="457200" indent="-457200">
              <a:buAutoNum type="arabicPeriod"/>
            </a:pPr>
            <a:endParaRPr lang="de-DE" dirty="0">
              <a:latin typeface="Aptos"/>
            </a:endParaRPr>
          </a:p>
          <a:p>
            <a:pPr marL="457200" indent="-457200">
              <a:buAutoNum type="arabicPeriod"/>
            </a:pPr>
            <a:r>
              <a:rPr lang="de-DE">
                <a:latin typeface="Aptos"/>
              </a:rPr>
              <a:t>Pool</a:t>
            </a:r>
            <a:endParaRPr lang="de-DE"/>
          </a:p>
          <a:p>
            <a:pPr marL="457200" indent="-457200">
              <a:buFont typeface="+mj-lt"/>
              <a:buAutoNum type="arabicPeriod"/>
            </a:pPr>
            <a:endParaRPr lang="de-DE" dirty="0"/>
          </a:p>
        </p:txBody>
      </p:sp>
      <p:sp>
        <p:nvSpPr>
          <p:cNvPr id="3" name="Titel 2">
            <a:extLst>
              <a:ext uri="{FF2B5EF4-FFF2-40B4-BE49-F238E27FC236}">
                <a16:creationId xmlns:a16="http://schemas.microsoft.com/office/drawing/2014/main" id="{9D528409-B6C3-068A-E35D-5E602FA52F5A}"/>
              </a:ext>
            </a:extLst>
          </p:cNvPr>
          <p:cNvSpPr>
            <a:spLocks noGrp="1"/>
          </p:cNvSpPr>
          <p:nvPr>
            <p:ph type="title"/>
          </p:nvPr>
        </p:nvSpPr>
        <p:spPr/>
        <p:txBody>
          <a:bodyPr lIns="91440" tIns="45720" rIns="91440" bIns="45720" anchor="ctr">
            <a:normAutofit/>
          </a:bodyPr>
          <a:lstStyle/>
          <a:p>
            <a:r>
              <a:rPr lang="de-DE">
                <a:latin typeface="Aptos"/>
              </a:rPr>
              <a:t>Architekturen</a:t>
            </a:r>
            <a:endParaRPr lang="en-US"/>
          </a:p>
        </p:txBody>
      </p:sp>
    </p:spTree>
    <p:extLst>
      <p:ext uri="{BB962C8B-B14F-4D97-AF65-F5344CB8AC3E}">
        <p14:creationId xmlns:p14="http://schemas.microsoft.com/office/powerpoint/2010/main" val="3780672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AFD9458-BCA8-9F47-B653-EC2F6B842985}"/>
              </a:ext>
            </a:extLst>
          </p:cNvPr>
          <p:cNvSpPr>
            <a:spLocks noGrp="1"/>
          </p:cNvSpPr>
          <p:nvPr>
            <p:ph type="title"/>
          </p:nvPr>
        </p:nvSpPr>
        <p:spPr/>
        <p:txBody>
          <a:bodyPr lIns="91440" tIns="45720" rIns="91440" bIns="45720" anchor="ctr">
            <a:normAutofit/>
          </a:bodyPr>
          <a:lstStyle/>
          <a:p>
            <a:r>
              <a:rPr lang="de-DE">
                <a:latin typeface="Aptos"/>
              </a:rPr>
              <a:t>Zentral</a:t>
            </a:r>
            <a:endParaRPr lang="en-US"/>
          </a:p>
        </p:txBody>
      </p:sp>
      <p:sp>
        <p:nvSpPr>
          <p:cNvPr id="7" name="Oval 6">
            <a:extLst>
              <a:ext uri="{FF2B5EF4-FFF2-40B4-BE49-F238E27FC236}">
                <a16:creationId xmlns:a16="http://schemas.microsoft.com/office/drawing/2014/main" id="{25834E91-B562-FE47-3056-4113F4E0E21E}"/>
              </a:ext>
            </a:extLst>
          </p:cNvPr>
          <p:cNvSpPr/>
          <p:nvPr/>
        </p:nvSpPr>
        <p:spPr>
          <a:xfrm>
            <a:off x="5170148" y="2556443"/>
            <a:ext cx="1397000" cy="130810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Lead Agent</a:t>
            </a:r>
            <a:endParaRPr lang="en-US"/>
          </a:p>
        </p:txBody>
      </p:sp>
      <p:sp>
        <p:nvSpPr>
          <p:cNvPr id="8" name="Oval 7">
            <a:extLst>
              <a:ext uri="{FF2B5EF4-FFF2-40B4-BE49-F238E27FC236}">
                <a16:creationId xmlns:a16="http://schemas.microsoft.com/office/drawing/2014/main" id="{B88B3AAD-95A6-0FE4-03CB-22885E413B80}"/>
              </a:ext>
            </a:extLst>
          </p:cNvPr>
          <p:cNvSpPr/>
          <p:nvPr/>
        </p:nvSpPr>
        <p:spPr>
          <a:xfrm>
            <a:off x="7087054" y="84194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9" name="Oval 8">
            <a:extLst>
              <a:ext uri="{FF2B5EF4-FFF2-40B4-BE49-F238E27FC236}">
                <a16:creationId xmlns:a16="http://schemas.microsoft.com/office/drawing/2014/main" id="{D767F460-D039-6420-39C5-43B3B9F67069}"/>
              </a:ext>
            </a:extLst>
          </p:cNvPr>
          <p:cNvSpPr/>
          <p:nvPr/>
        </p:nvSpPr>
        <p:spPr>
          <a:xfrm>
            <a:off x="8372929" y="255644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endParaRPr lang="en-US" sz="1600">
              <a:solidFill>
                <a:schemeClr val="tx1"/>
              </a:solidFill>
              <a:ea typeface="Calibri"/>
              <a:cs typeface="Calibri"/>
            </a:endParaRPr>
          </a:p>
        </p:txBody>
      </p:sp>
      <p:sp>
        <p:nvSpPr>
          <p:cNvPr id="10" name="Oval 9">
            <a:extLst>
              <a:ext uri="{FF2B5EF4-FFF2-40B4-BE49-F238E27FC236}">
                <a16:creationId xmlns:a16="http://schemas.microsoft.com/office/drawing/2014/main" id="{1A7E7991-992F-6EFC-0B23-9FF34A1ECC20}"/>
              </a:ext>
            </a:extLst>
          </p:cNvPr>
          <p:cNvSpPr/>
          <p:nvPr/>
        </p:nvSpPr>
        <p:spPr>
          <a:xfrm>
            <a:off x="7087054" y="455669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11" name="Oval 10">
            <a:extLst>
              <a:ext uri="{FF2B5EF4-FFF2-40B4-BE49-F238E27FC236}">
                <a16:creationId xmlns:a16="http://schemas.microsoft.com/office/drawing/2014/main" id="{5D3C038D-71E8-1181-FE56-3E25ABE3A01A}"/>
              </a:ext>
            </a:extLst>
          </p:cNvPr>
          <p:cNvSpPr/>
          <p:nvPr/>
        </p:nvSpPr>
        <p:spPr>
          <a:xfrm>
            <a:off x="3050835" y="84194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12" name="Oval 11">
            <a:extLst>
              <a:ext uri="{FF2B5EF4-FFF2-40B4-BE49-F238E27FC236}">
                <a16:creationId xmlns:a16="http://schemas.microsoft.com/office/drawing/2014/main" id="{F323B3F3-E10A-418D-C75D-5AA58819781F}"/>
              </a:ext>
            </a:extLst>
          </p:cNvPr>
          <p:cNvSpPr/>
          <p:nvPr/>
        </p:nvSpPr>
        <p:spPr>
          <a:xfrm>
            <a:off x="1967365" y="255644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endParaRPr lang="en-US" sz="1600">
              <a:solidFill>
                <a:schemeClr val="tx1"/>
              </a:solidFill>
              <a:ea typeface="Calibri"/>
              <a:cs typeface="Calibri"/>
            </a:endParaRPr>
          </a:p>
        </p:txBody>
      </p:sp>
      <p:sp>
        <p:nvSpPr>
          <p:cNvPr id="13" name="Oval 12">
            <a:extLst>
              <a:ext uri="{FF2B5EF4-FFF2-40B4-BE49-F238E27FC236}">
                <a16:creationId xmlns:a16="http://schemas.microsoft.com/office/drawing/2014/main" id="{29A99536-7F62-F5A8-C1D3-C222E7AD3B6C}"/>
              </a:ext>
            </a:extLst>
          </p:cNvPr>
          <p:cNvSpPr/>
          <p:nvPr/>
        </p:nvSpPr>
        <p:spPr>
          <a:xfrm>
            <a:off x="3050833" y="4556693"/>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cxnSp>
        <p:nvCxnSpPr>
          <p:cNvPr id="14" name="Straight Arrow Connector 13">
            <a:extLst>
              <a:ext uri="{FF2B5EF4-FFF2-40B4-BE49-F238E27FC236}">
                <a16:creationId xmlns:a16="http://schemas.microsoft.com/office/drawing/2014/main" id="{0F4CC8C8-35F8-3A24-AB9E-B7AE583A637E}"/>
              </a:ext>
            </a:extLst>
          </p:cNvPr>
          <p:cNvCxnSpPr/>
          <p:nvPr/>
        </p:nvCxnSpPr>
        <p:spPr>
          <a:xfrm>
            <a:off x="4251779" y="2008755"/>
            <a:ext cx="1000124" cy="79771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0908AE4-4134-4467-33D8-9F4C14D1DA4B}"/>
              </a:ext>
            </a:extLst>
          </p:cNvPr>
          <p:cNvCxnSpPr>
            <a:cxnSpLocks/>
          </p:cNvCxnSpPr>
          <p:nvPr/>
        </p:nvCxnSpPr>
        <p:spPr>
          <a:xfrm flipV="1">
            <a:off x="3406437" y="3241051"/>
            <a:ext cx="1714498" cy="595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C7421D8-0044-3A40-C523-7134FDF3E4E0}"/>
              </a:ext>
            </a:extLst>
          </p:cNvPr>
          <p:cNvCxnSpPr>
            <a:cxnSpLocks/>
          </p:cNvCxnSpPr>
          <p:nvPr/>
        </p:nvCxnSpPr>
        <p:spPr>
          <a:xfrm>
            <a:off x="6394904" y="3735160"/>
            <a:ext cx="1000124" cy="79771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CEE8ED0-026C-1711-29BD-F91B564D9B9D}"/>
              </a:ext>
            </a:extLst>
          </p:cNvPr>
          <p:cNvCxnSpPr>
            <a:cxnSpLocks/>
          </p:cNvCxnSpPr>
          <p:nvPr/>
        </p:nvCxnSpPr>
        <p:spPr>
          <a:xfrm flipV="1">
            <a:off x="6656842" y="3211285"/>
            <a:ext cx="1714498" cy="595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73CFA92-0D66-1A9B-663C-123149653B4F}"/>
              </a:ext>
            </a:extLst>
          </p:cNvPr>
          <p:cNvCxnSpPr>
            <a:cxnSpLocks/>
          </p:cNvCxnSpPr>
          <p:nvPr/>
        </p:nvCxnSpPr>
        <p:spPr>
          <a:xfrm flipH="1">
            <a:off x="4257731" y="3711347"/>
            <a:ext cx="1012031" cy="8215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22C8605-62BD-737C-7067-979BCAC0112D}"/>
              </a:ext>
            </a:extLst>
          </p:cNvPr>
          <p:cNvCxnSpPr>
            <a:cxnSpLocks/>
          </p:cNvCxnSpPr>
          <p:nvPr/>
        </p:nvCxnSpPr>
        <p:spPr>
          <a:xfrm flipH="1">
            <a:off x="6460385" y="2008753"/>
            <a:ext cx="797720" cy="7798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787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8E3C-D970-CCA9-4BBF-B3E85CC8378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FE0C649-D3BD-A0F5-2D9E-C806F440EE9A}"/>
              </a:ext>
            </a:extLst>
          </p:cNvPr>
          <p:cNvSpPr>
            <a:spLocks noGrp="1"/>
          </p:cNvSpPr>
          <p:nvPr>
            <p:ph type="title"/>
          </p:nvPr>
        </p:nvSpPr>
        <p:spPr/>
        <p:txBody>
          <a:bodyPr lIns="91440" tIns="45720" rIns="91440" bIns="45720" anchor="ctr">
            <a:normAutofit/>
          </a:bodyPr>
          <a:lstStyle/>
          <a:p>
            <a:r>
              <a:rPr lang="de-DE"/>
              <a:t>Dezentral</a:t>
            </a:r>
          </a:p>
        </p:txBody>
      </p:sp>
      <p:sp>
        <p:nvSpPr>
          <p:cNvPr id="6" name="Oval 5">
            <a:extLst>
              <a:ext uri="{FF2B5EF4-FFF2-40B4-BE49-F238E27FC236}">
                <a16:creationId xmlns:a16="http://schemas.microsoft.com/office/drawing/2014/main" id="{29E930F2-CA9E-CDD0-8303-0587B873E883}"/>
              </a:ext>
            </a:extLst>
          </p:cNvPr>
          <p:cNvSpPr/>
          <p:nvPr/>
        </p:nvSpPr>
        <p:spPr>
          <a:xfrm>
            <a:off x="7312025" y="105965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7" name="Oval 6">
            <a:extLst>
              <a:ext uri="{FF2B5EF4-FFF2-40B4-BE49-F238E27FC236}">
                <a16:creationId xmlns:a16="http://schemas.microsoft.com/office/drawing/2014/main" id="{DCDDBEB0-F906-86D6-33A8-2A2C9A498908}"/>
              </a:ext>
            </a:extLst>
          </p:cNvPr>
          <p:cNvSpPr/>
          <p:nvPr/>
        </p:nvSpPr>
        <p:spPr>
          <a:xfrm>
            <a:off x="8597900" y="277415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8" name="Oval 7">
            <a:extLst>
              <a:ext uri="{FF2B5EF4-FFF2-40B4-BE49-F238E27FC236}">
                <a16:creationId xmlns:a16="http://schemas.microsoft.com/office/drawing/2014/main" id="{4EA2F38C-5C11-6A45-6BCD-57A0B471AC00}"/>
              </a:ext>
            </a:extLst>
          </p:cNvPr>
          <p:cNvSpPr/>
          <p:nvPr/>
        </p:nvSpPr>
        <p:spPr>
          <a:xfrm>
            <a:off x="7312025" y="477440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9" name="Oval 8">
            <a:extLst>
              <a:ext uri="{FF2B5EF4-FFF2-40B4-BE49-F238E27FC236}">
                <a16:creationId xmlns:a16="http://schemas.microsoft.com/office/drawing/2014/main" id="{B8EED868-470F-C988-8B5A-14D7C618297F}"/>
              </a:ext>
            </a:extLst>
          </p:cNvPr>
          <p:cNvSpPr/>
          <p:nvPr/>
        </p:nvSpPr>
        <p:spPr>
          <a:xfrm>
            <a:off x="3275806" y="105965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10" name="Oval 9">
            <a:extLst>
              <a:ext uri="{FF2B5EF4-FFF2-40B4-BE49-F238E27FC236}">
                <a16:creationId xmlns:a16="http://schemas.microsoft.com/office/drawing/2014/main" id="{12DD4EBA-E706-7BA6-4C28-74A3CBCC56E6}"/>
              </a:ext>
            </a:extLst>
          </p:cNvPr>
          <p:cNvSpPr/>
          <p:nvPr/>
        </p:nvSpPr>
        <p:spPr>
          <a:xfrm>
            <a:off x="2192336" y="277415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11" name="Oval 10">
            <a:extLst>
              <a:ext uri="{FF2B5EF4-FFF2-40B4-BE49-F238E27FC236}">
                <a16:creationId xmlns:a16="http://schemas.microsoft.com/office/drawing/2014/main" id="{E1A7D8B4-CA92-7F4D-A12E-69FE214A4835}"/>
              </a:ext>
            </a:extLst>
          </p:cNvPr>
          <p:cNvSpPr/>
          <p:nvPr/>
        </p:nvSpPr>
        <p:spPr>
          <a:xfrm>
            <a:off x="3275804" y="4774407"/>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cxnSp>
        <p:nvCxnSpPr>
          <p:cNvPr id="12" name="Straight Arrow Connector 11">
            <a:extLst>
              <a:ext uri="{FF2B5EF4-FFF2-40B4-BE49-F238E27FC236}">
                <a16:creationId xmlns:a16="http://schemas.microsoft.com/office/drawing/2014/main" id="{A12D3BB2-2289-D96F-2624-528605E797B2}"/>
              </a:ext>
            </a:extLst>
          </p:cNvPr>
          <p:cNvCxnSpPr/>
          <p:nvPr/>
        </p:nvCxnSpPr>
        <p:spPr>
          <a:xfrm flipV="1">
            <a:off x="4768454" y="1684734"/>
            <a:ext cx="2446732" cy="119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917F47F-030F-218B-2F6B-C6D61FC34DEB}"/>
              </a:ext>
            </a:extLst>
          </p:cNvPr>
          <p:cNvCxnSpPr>
            <a:cxnSpLocks/>
          </p:cNvCxnSpPr>
          <p:nvPr/>
        </p:nvCxnSpPr>
        <p:spPr>
          <a:xfrm>
            <a:off x="3613549" y="3434953"/>
            <a:ext cx="4947044" cy="178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DF910B3-C288-62BB-5AE8-588A98CF991F}"/>
              </a:ext>
            </a:extLst>
          </p:cNvPr>
          <p:cNvCxnSpPr/>
          <p:nvPr/>
        </p:nvCxnSpPr>
        <p:spPr>
          <a:xfrm>
            <a:off x="4750594" y="5417343"/>
            <a:ext cx="2524124" cy="2381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E3CA3FD-0273-85A0-CEB5-114C88CFDCFE}"/>
              </a:ext>
            </a:extLst>
          </p:cNvPr>
          <p:cNvCxnSpPr>
            <a:cxnSpLocks/>
          </p:cNvCxnSpPr>
          <p:nvPr/>
        </p:nvCxnSpPr>
        <p:spPr>
          <a:xfrm flipV="1">
            <a:off x="4679155" y="3738561"/>
            <a:ext cx="3881436" cy="13930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CF358E4-2F89-96A7-4028-B6BD6744A2EB}"/>
              </a:ext>
            </a:extLst>
          </p:cNvPr>
          <p:cNvCxnSpPr>
            <a:cxnSpLocks/>
          </p:cNvCxnSpPr>
          <p:nvPr/>
        </p:nvCxnSpPr>
        <p:spPr>
          <a:xfrm flipV="1">
            <a:off x="4583905" y="2226468"/>
            <a:ext cx="2857498" cy="27265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99DE672-12DE-260C-B749-DB5EEA65991F}"/>
              </a:ext>
            </a:extLst>
          </p:cNvPr>
          <p:cNvCxnSpPr>
            <a:cxnSpLocks/>
          </p:cNvCxnSpPr>
          <p:nvPr/>
        </p:nvCxnSpPr>
        <p:spPr>
          <a:xfrm flipH="1" flipV="1">
            <a:off x="4345778" y="2375296"/>
            <a:ext cx="11908" cy="242292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129F926-716B-6929-21FA-52EA182ADC75}"/>
              </a:ext>
            </a:extLst>
          </p:cNvPr>
          <p:cNvCxnSpPr>
            <a:cxnSpLocks/>
          </p:cNvCxnSpPr>
          <p:nvPr/>
        </p:nvCxnSpPr>
        <p:spPr>
          <a:xfrm flipH="1" flipV="1">
            <a:off x="3381372" y="4006452"/>
            <a:ext cx="369095" cy="7084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7D6BB3F-D003-99E6-82D7-A4E23F962406}"/>
              </a:ext>
            </a:extLst>
          </p:cNvPr>
          <p:cNvCxnSpPr>
            <a:cxnSpLocks/>
          </p:cNvCxnSpPr>
          <p:nvPr/>
        </p:nvCxnSpPr>
        <p:spPr>
          <a:xfrm flipV="1">
            <a:off x="8542731" y="4226718"/>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21B6631-1730-811E-B73F-CDC717879E2B}"/>
              </a:ext>
            </a:extLst>
          </p:cNvPr>
          <p:cNvCxnSpPr>
            <a:cxnSpLocks/>
          </p:cNvCxnSpPr>
          <p:nvPr/>
        </p:nvCxnSpPr>
        <p:spPr>
          <a:xfrm flipH="1" flipV="1">
            <a:off x="8012901" y="2405062"/>
            <a:ext cx="23813" cy="23098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CFED50A-6B67-AE33-69DE-F5919C6C3D88}"/>
              </a:ext>
            </a:extLst>
          </p:cNvPr>
          <p:cNvCxnSpPr>
            <a:cxnSpLocks/>
          </p:cNvCxnSpPr>
          <p:nvPr/>
        </p:nvCxnSpPr>
        <p:spPr>
          <a:xfrm flipH="1" flipV="1">
            <a:off x="4560089" y="2155030"/>
            <a:ext cx="3232547" cy="248840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1B6631-1730-811E-B73F-CDC717879E2B}"/>
              </a:ext>
            </a:extLst>
          </p:cNvPr>
          <p:cNvCxnSpPr>
            <a:cxnSpLocks/>
          </p:cNvCxnSpPr>
          <p:nvPr/>
        </p:nvCxnSpPr>
        <p:spPr>
          <a:xfrm flipH="1" flipV="1">
            <a:off x="3643308" y="3607593"/>
            <a:ext cx="3810000" cy="126801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C8D90E5-DB33-F9E8-FE46-B3B51314E602}"/>
              </a:ext>
            </a:extLst>
          </p:cNvPr>
          <p:cNvCxnSpPr>
            <a:cxnSpLocks/>
          </p:cNvCxnSpPr>
          <p:nvPr/>
        </p:nvCxnSpPr>
        <p:spPr>
          <a:xfrm>
            <a:off x="8727277" y="2155030"/>
            <a:ext cx="452438" cy="5774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7D6BB3F-D003-99E6-82D7-A4E23F962406}"/>
              </a:ext>
            </a:extLst>
          </p:cNvPr>
          <p:cNvCxnSpPr>
            <a:cxnSpLocks/>
          </p:cNvCxnSpPr>
          <p:nvPr/>
        </p:nvCxnSpPr>
        <p:spPr>
          <a:xfrm flipV="1">
            <a:off x="8542731" y="4226718"/>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16085D7-729A-67DE-3F0B-072631269F86}"/>
              </a:ext>
            </a:extLst>
          </p:cNvPr>
          <p:cNvCxnSpPr>
            <a:cxnSpLocks/>
          </p:cNvCxnSpPr>
          <p:nvPr/>
        </p:nvCxnSpPr>
        <p:spPr>
          <a:xfrm>
            <a:off x="4691060" y="1934765"/>
            <a:ext cx="3899297" cy="104179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E0F0D8B-F22C-D4E7-0BCA-C2917B80F907}"/>
              </a:ext>
            </a:extLst>
          </p:cNvPr>
          <p:cNvCxnSpPr>
            <a:cxnSpLocks/>
          </p:cNvCxnSpPr>
          <p:nvPr/>
        </p:nvCxnSpPr>
        <p:spPr>
          <a:xfrm flipV="1">
            <a:off x="8542731" y="4226718"/>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4FD7334-C4FB-77A4-78B7-F29A4A041258}"/>
              </a:ext>
            </a:extLst>
          </p:cNvPr>
          <p:cNvCxnSpPr>
            <a:cxnSpLocks/>
          </p:cNvCxnSpPr>
          <p:nvPr/>
        </p:nvCxnSpPr>
        <p:spPr>
          <a:xfrm flipV="1">
            <a:off x="3655216" y="1964531"/>
            <a:ext cx="3655219" cy="12263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E4C6FE7-2567-9D23-3642-C1B951F5A5E1}"/>
              </a:ext>
            </a:extLst>
          </p:cNvPr>
          <p:cNvCxnSpPr>
            <a:cxnSpLocks/>
          </p:cNvCxnSpPr>
          <p:nvPr/>
        </p:nvCxnSpPr>
        <p:spPr>
          <a:xfrm flipH="1">
            <a:off x="3190873" y="2250280"/>
            <a:ext cx="339329" cy="5179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2078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AFD9458-BCA8-9F47-B653-EC2F6B842985}"/>
              </a:ext>
            </a:extLst>
          </p:cNvPr>
          <p:cNvSpPr>
            <a:spLocks noGrp="1"/>
          </p:cNvSpPr>
          <p:nvPr>
            <p:ph type="title"/>
          </p:nvPr>
        </p:nvSpPr>
        <p:spPr/>
        <p:txBody>
          <a:bodyPr lIns="91440" tIns="45720" rIns="91440" bIns="45720" anchor="ctr">
            <a:normAutofit/>
          </a:bodyPr>
          <a:lstStyle/>
          <a:p>
            <a:r>
              <a:rPr lang="de-DE" dirty="0" err="1"/>
              <a:t>Hybrid</a:t>
            </a:r>
            <a:endParaRPr lang="en-US" dirty="0" err="1"/>
          </a:p>
        </p:txBody>
      </p:sp>
      <p:sp>
        <p:nvSpPr>
          <p:cNvPr id="2" name="Oval 1">
            <a:extLst>
              <a:ext uri="{FF2B5EF4-FFF2-40B4-BE49-F238E27FC236}">
                <a16:creationId xmlns:a16="http://schemas.microsoft.com/office/drawing/2014/main" id="{215886D4-790F-9706-ABE5-CBDA074E895C}"/>
              </a:ext>
            </a:extLst>
          </p:cNvPr>
          <p:cNvSpPr/>
          <p:nvPr/>
        </p:nvSpPr>
        <p:spPr>
          <a:xfrm>
            <a:off x="9157494" y="132159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4" name="Oval 3">
            <a:extLst>
              <a:ext uri="{FF2B5EF4-FFF2-40B4-BE49-F238E27FC236}">
                <a16:creationId xmlns:a16="http://schemas.microsoft.com/office/drawing/2014/main" id="{7488F376-1D34-09FD-6880-314B9515D000}"/>
              </a:ext>
            </a:extLst>
          </p:cNvPr>
          <p:cNvSpPr/>
          <p:nvPr/>
        </p:nvSpPr>
        <p:spPr>
          <a:xfrm>
            <a:off x="10443369" y="303609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5" name="Oval 4">
            <a:extLst>
              <a:ext uri="{FF2B5EF4-FFF2-40B4-BE49-F238E27FC236}">
                <a16:creationId xmlns:a16="http://schemas.microsoft.com/office/drawing/2014/main" id="{5AB8EF65-3C60-4B27-BC2D-2B81605EF9BD}"/>
              </a:ext>
            </a:extLst>
          </p:cNvPr>
          <p:cNvSpPr/>
          <p:nvPr/>
        </p:nvSpPr>
        <p:spPr>
          <a:xfrm>
            <a:off x="9157494" y="503634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8" name="Oval 7">
            <a:extLst>
              <a:ext uri="{FF2B5EF4-FFF2-40B4-BE49-F238E27FC236}">
                <a16:creationId xmlns:a16="http://schemas.microsoft.com/office/drawing/2014/main" id="{77831C90-A725-3FC7-307F-B72979EA80F7}"/>
              </a:ext>
            </a:extLst>
          </p:cNvPr>
          <p:cNvSpPr/>
          <p:nvPr/>
        </p:nvSpPr>
        <p:spPr>
          <a:xfrm>
            <a:off x="5121275" y="132159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9" name="Oval 8">
            <a:extLst>
              <a:ext uri="{FF2B5EF4-FFF2-40B4-BE49-F238E27FC236}">
                <a16:creationId xmlns:a16="http://schemas.microsoft.com/office/drawing/2014/main" id="{A60E3BE3-8B16-4793-D0E6-1A1CFA8C9AF3}"/>
              </a:ext>
            </a:extLst>
          </p:cNvPr>
          <p:cNvSpPr/>
          <p:nvPr/>
        </p:nvSpPr>
        <p:spPr>
          <a:xfrm>
            <a:off x="4037805" y="303609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sp>
        <p:nvSpPr>
          <p:cNvPr id="10" name="Oval 9">
            <a:extLst>
              <a:ext uri="{FF2B5EF4-FFF2-40B4-BE49-F238E27FC236}">
                <a16:creationId xmlns:a16="http://schemas.microsoft.com/office/drawing/2014/main" id="{E3227825-D389-0312-17A3-835DA77B386A}"/>
              </a:ext>
            </a:extLst>
          </p:cNvPr>
          <p:cNvSpPr/>
          <p:nvPr/>
        </p:nvSpPr>
        <p:spPr>
          <a:xfrm>
            <a:off x="5121273" y="5036345"/>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Agent</a:t>
            </a:r>
          </a:p>
        </p:txBody>
      </p:sp>
      <p:cxnSp>
        <p:nvCxnSpPr>
          <p:cNvPr id="12" name="Straight Arrow Connector 11">
            <a:extLst>
              <a:ext uri="{FF2B5EF4-FFF2-40B4-BE49-F238E27FC236}">
                <a16:creationId xmlns:a16="http://schemas.microsoft.com/office/drawing/2014/main" id="{4CB44A02-8610-5BC6-31B4-6882DF56D377}"/>
              </a:ext>
            </a:extLst>
          </p:cNvPr>
          <p:cNvCxnSpPr/>
          <p:nvPr/>
        </p:nvCxnSpPr>
        <p:spPr>
          <a:xfrm flipV="1">
            <a:off x="6613923" y="1946672"/>
            <a:ext cx="2446732" cy="119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14536D2-3229-4711-96CB-BE0D58FE67B5}"/>
              </a:ext>
            </a:extLst>
          </p:cNvPr>
          <p:cNvCxnSpPr>
            <a:cxnSpLocks/>
          </p:cNvCxnSpPr>
          <p:nvPr/>
        </p:nvCxnSpPr>
        <p:spPr>
          <a:xfrm>
            <a:off x="5459018" y="3696891"/>
            <a:ext cx="4947044" cy="178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69EA115-F868-68CF-2EEF-48C7E7F73C0A}"/>
              </a:ext>
            </a:extLst>
          </p:cNvPr>
          <p:cNvCxnSpPr/>
          <p:nvPr/>
        </p:nvCxnSpPr>
        <p:spPr>
          <a:xfrm>
            <a:off x="6596063" y="5679280"/>
            <a:ext cx="2524124" cy="2381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CEE548D-7B4D-D06A-8442-1D33508B830E}"/>
              </a:ext>
            </a:extLst>
          </p:cNvPr>
          <p:cNvCxnSpPr>
            <a:cxnSpLocks/>
          </p:cNvCxnSpPr>
          <p:nvPr/>
        </p:nvCxnSpPr>
        <p:spPr>
          <a:xfrm flipV="1">
            <a:off x="6524624" y="4000499"/>
            <a:ext cx="3881436" cy="13930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69345B6-5895-C996-59A9-D925338F156E}"/>
              </a:ext>
            </a:extLst>
          </p:cNvPr>
          <p:cNvCxnSpPr>
            <a:cxnSpLocks/>
          </p:cNvCxnSpPr>
          <p:nvPr/>
        </p:nvCxnSpPr>
        <p:spPr>
          <a:xfrm flipV="1">
            <a:off x="6429374" y="2488405"/>
            <a:ext cx="2857498" cy="27265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B6937A0-C93A-61F6-D442-285ADCEE7CA1}"/>
              </a:ext>
            </a:extLst>
          </p:cNvPr>
          <p:cNvCxnSpPr>
            <a:cxnSpLocks/>
          </p:cNvCxnSpPr>
          <p:nvPr/>
        </p:nvCxnSpPr>
        <p:spPr>
          <a:xfrm flipH="1" flipV="1">
            <a:off x="6191247" y="2637233"/>
            <a:ext cx="11908" cy="242292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D032B48-4651-ADC8-7340-C547F0B9FDAF}"/>
              </a:ext>
            </a:extLst>
          </p:cNvPr>
          <p:cNvCxnSpPr>
            <a:cxnSpLocks/>
          </p:cNvCxnSpPr>
          <p:nvPr/>
        </p:nvCxnSpPr>
        <p:spPr>
          <a:xfrm flipH="1" flipV="1">
            <a:off x="5226841" y="4268389"/>
            <a:ext cx="369095" cy="7084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C37898D-5681-A419-C851-FFB52CA89571}"/>
              </a:ext>
            </a:extLst>
          </p:cNvPr>
          <p:cNvCxnSpPr>
            <a:cxnSpLocks/>
          </p:cNvCxnSpPr>
          <p:nvPr/>
        </p:nvCxnSpPr>
        <p:spPr>
          <a:xfrm flipV="1">
            <a:off x="10388200" y="4488655"/>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3F27F93-1F57-2C5B-C329-9B0D0436B486}"/>
              </a:ext>
            </a:extLst>
          </p:cNvPr>
          <p:cNvCxnSpPr>
            <a:cxnSpLocks/>
          </p:cNvCxnSpPr>
          <p:nvPr/>
        </p:nvCxnSpPr>
        <p:spPr>
          <a:xfrm flipH="1" flipV="1">
            <a:off x="9858370" y="2667000"/>
            <a:ext cx="23813" cy="23098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036BF54-4D5A-5A20-6BAC-1D5406DB49E6}"/>
              </a:ext>
            </a:extLst>
          </p:cNvPr>
          <p:cNvCxnSpPr>
            <a:cxnSpLocks/>
          </p:cNvCxnSpPr>
          <p:nvPr/>
        </p:nvCxnSpPr>
        <p:spPr>
          <a:xfrm flipH="1" flipV="1">
            <a:off x="6405558" y="2416967"/>
            <a:ext cx="3232547" cy="248840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C64E06D-7FB6-E037-8656-148D59F91212}"/>
              </a:ext>
            </a:extLst>
          </p:cNvPr>
          <p:cNvCxnSpPr>
            <a:cxnSpLocks/>
          </p:cNvCxnSpPr>
          <p:nvPr/>
        </p:nvCxnSpPr>
        <p:spPr>
          <a:xfrm flipH="1" flipV="1">
            <a:off x="5488777" y="3869530"/>
            <a:ext cx="3810000" cy="126801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BD88178-69E2-CD8F-D4D5-282647F7F3DF}"/>
              </a:ext>
            </a:extLst>
          </p:cNvPr>
          <p:cNvCxnSpPr>
            <a:cxnSpLocks/>
          </p:cNvCxnSpPr>
          <p:nvPr/>
        </p:nvCxnSpPr>
        <p:spPr>
          <a:xfrm>
            <a:off x="10572746" y="2416967"/>
            <a:ext cx="452438" cy="5774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F0E99EC-4E1C-AD4E-38E2-336B92537F0B}"/>
              </a:ext>
            </a:extLst>
          </p:cNvPr>
          <p:cNvCxnSpPr>
            <a:cxnSpLocks/>
          </p:cNvCxnSpPr>
          <p:nvPr/>
        </p:nvCxnSpPr>
        <p:spPr>
          <a:xfrm flipV="1">
            <a:off x="10388200" y="4488655"/>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535764D-570C-28CF-B460-E30E6ED9C663}"/>
              </a:ext>
            </a:extLst>
          </p:cNvPr>
          <p:cNvCxnSpPr>
            <a:cxnSpLocks/>
          </p:cNvCxnSpPr>
          <p:nvPr/>
        </p:nvCxnSpPr>
        <p:spPr>
          <a:xfrm>
            <a:off x="6536529" y="2196703"/>
            <a:ext cx="3899297" cy="104179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68743EBE-CD7E-02D0-D674-B6B7D5A4B636}"/>
              </a:ext>
            </a:extLst>
          </p:cNvPr>
          <p:cNvCxnSpPr>
            <a:cxnSpLocks/>
          </p:cNvCxnSpPr>
          <p:nvPr/>
        </p:nvCxnSpPr>
        <p:spPr>
          <a:xfrm flipV="1">
            <a:off x="10388200" y="4488655"/>
            <a:ext cx="458391" cy="6369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483579C-E2A0-9B51-D33A-40D46E2D954D}"/>
              </a:ext>
            </a:extLst>
          </p:cNvPr>
          <p:cNvCxnSpPr>
            <a:cxnSpLocks/>
          </p:cNvCxnSpPr>
          <p:nvPr/>
        </p:nvCxnSpPr>
        <p:spPr>
          <a:xfrm flipV="1">
            <a:off x="5500685" y="2226469"/>
            <a:ext cx="3655219" cy="12263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8A539EE-B012-9760-15FA-D5A5D18C0359}"/>
              </a:ext>
            </a:extLst>
          </p:cNvPr>
          <p:cNvCxnSpPr>
            <a:cxnSpLocks/>
          </p:cNvCxnSpPr>
          <p:nvPr/>
        </p:nvCxnSpPr>
        <p:spPr>
          <a:xfrm flipH="1">
            <a:off x="5036342" y="2512217"/>
            <a:ext cx="339329" cy="5179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687DC4A6-B7AF-5182-C81B-17F7CD32C9D6}"/>
              </a:ext>
            </a:extLst>
          </p:cNvPr>
          <p:cNvSpPr/>
          <p:nvPr/>
        </p:nvSpPr>
        <p:spPr>
          <a:xfrm>
            <a:off x="840978" y="3048001"/>
            <a:ext cx="1397000" cy="1308100"/>
          </a:xfrm>
          <a:prstGeom prst="ellipse">
            <a:avLst/>
          </a:prstGeom>
          <a:solidFill>
            <a:schemeClr val="bg1"/>
          </a:solidFill>
          <a:ln w="571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Planner Agent</a:t>
            </a:r>
            <a:endParaRPr lang="en-US"/>
          </a:p>
        </p:txBody>
      </p:sp>
      <p:sp>
        <p:nvSpPr>
          <p:cNvPr id="38" name="Arrow: Right 37" descr="dasdsa&#10;">
            <a:extLst>
              <a:ext uri="{FF2B5EF4-FFF2-40B4-BE49-F238E27FC236}">
                <a16:creationId xmlns:a16="http://schemas.microsoft.com/office/drawing/2014/main" id="{803BCB75-8F03-6C95-9B8B-6937820F8D79}"/>
              </a:ext>
            </a:extLst>
          </p:cNvPr>
          <p:cNvSpPr/>
          <p:nvPr/>
        </p:nvSpPr>
        <p:spPr>
          <a:xfrm>
            <a:off x="2488406" y="3512343"/>
            <a:ext cx="1416843" cy="3571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TextBox 5">
            <a:extLst>
              <a:ext uri="{FF2B5EF4-FFF2-40B4-BE49-F238E27FC236}">
                <a16:creationId xmlns:a16="http://schemas.microsoft.com/office/drawing/2014/main" id="{09DEF1CE-6D72-3A0B-6323-CA41E0537836}"/>
              </a:ext>
            </a:extLst>
          </p:cNvPr>
          <p:cNvSpPr txBox="1"/>
          <p:nvPr/>
        </p:nvSpPr>
        <p:spPr>
          <a:xfrm>
            <a:off x="2488406" y="3143249"/>
            <a:ext cx="140493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Initial Plan</a:t>
            </a:r>
          </a:p>
        </p:txBody>
      </p:sp>
    </p:spTree>
    <p:extLst>
      <p:ext uri="{BB962C8B-B14F-4D97-AF65-F5344CB8AC3E}">
        <p14:creationId xmlns:p14="http://schemas.microsoft.com/office/powerpoint/2010/main" val="165882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F736-0E4A-F449-AFF5-3C2098246538}"/>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1151755-6485-677E-15EF-EF4E1E12D152}"/>
              </a:ext>
            </a:extLst>
          </p:cNvPr>
          <p:cNvSpPr>
            <a:spLocks noGrp="1"/>
          </p:cNvSpPr>
          <p:nvPr>
            <p:ph type="title"/>
          </p:nvPr>
        </p:nvSpPr>
        <p:spPr/>
        <p:txBody>
          <a:bodyPr lIns="91440" tIns="45720" rIns="91440" bIns="45720" anchor="ctr">
            <a:normAutofit/>
          </a:bodyPr>
          <a:lstStyle/>
          <a:p>
            <a:r>
              <a:rPr lang="de-DE"/>
              <a:t>Pool</a:t>
            </a:r>
            <a:endParaRPr lang="de-DE" dirty="0"/>
          </a:p>
        </p:txBody>
      </p:sp>
      <p:sp>
        <p:nvSpPr>
          <p:cNvPr id="6" name="Oval 5">
            <a:extLst>
              <a:ext uri="{FF2B5EF4-FFF2-40B4-BE49-F238E27FC236}">
                <a16:creationId xmlns:a16="http://schemas.microsoft.com/office/drawing/2014/main" id="{86E426B6-61C5-A4D4-ECBA-BEA5686B5336}"/>
              </a:ext>
            </a:extLst>
          </p:cNvPr>
          <p:cNvSpPr/>
          <p:nvPr/>
        </p:nvSpPr>
        <p:spPr>
          <a:xfrm>
            <a:off x="7210425" y="87822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7" name="Oval 6">
            <a:extLst>
              <a:ext uri="{FF2B5EF4-FFF2-40B4-BE49-F238E27FC236}">
                <a16:creationId xmlns:a16="http://schemas.microsoft.com/office/drawing/2014/main" id="{2E9BA8AF-F508-0CA7-1178-64A8856C1982}"/>
              </a:ext>
            </a:extLst>
          </p:cNvPr>
          <p:cNvSpPr/>
          <p:nvPr/>
        </p:nvSpPr>
        <p:spPr>
          <a:xfrm>
            <a:off x="8496300" y="259272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8" name="Oval 7">
            <a:extLst>
              <a:ext uri="{FF2B5EF4-FFF2-40B4-BE49-F238E27FC236}">
                <a16:creationId xmlns:a16="http://schemas.microsoft.com/office/drawing/2014/main" id="{79CE3A07-EC63-3321-2440-03A4BE6A4119}"/>
              </a:ext>
            </a:extLst>
          </p:cNvPr>
          <p:cNvSpPr/>
          <p:nvPr/>
        </p:nvSpPr>
        <p:spPr>
          <a:xfrm>
            <a:off x="7210425" y="459297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sp>
        <p:nvSpPr>
          <p:cNvPr id="9" name="Oval 8">
            <a:extLst>
              <a:ext uri="{FF2B5EF4-FFF2-40B4-BE49-F238E27FC236}">
                <a16:creationId xmlns:a16="http://schemas.microsoft.com/office/drawing/2014/main" id="{196B26D4-25B7-D8AC-ADFC-B369BDB8AEF1}"/>
              </a:ext>
            </a:extLst>
          </p:cNvPr>
          <p:cNvSpPr/>
          <p:nvPr/>
        </p:nvSpPr>
        <p:spPr>
          <a:xfrm>
            <a:off x="3174206" y="87822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endParaRPr lang="en-US" sz="1600">
              <a:solidFill>
                <a:schemeClr val="tx1"/>
              </a:solidFill>
              <a:ea typeface="Calibri"/>
              <a:cs typeface="Calibri"/>
            </a:endParaRPr>
          </a:p>
        </p:txBody>
      </p:sp>
      <p:sp>
        <p:nvSpPr>
          <p:cNvPr id="10" name="Oval 9">
            <a:extLst>
              <a:ext uri="{FF2B5EF4-FFF2-40B4-BE49-F238E27FC236}">
                <a16:creationId xmlns:a16="http://schemas.microsoft.com/office/drawing/2014/main" id="{35F6BCFF-BED2-7CB8-752F-4A909FF352CB}"/>
              </a:ext>
            </a:extLst>
          </p:cNvPr>
          <p:cNvSpPr/>
          <p:nvPr/>
        </p:nvSpPr>
        <p:spPr>
          <a:xfrm>
            <a:off x="2090736" y="259272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endParaRPr lang="en-US" sz="1600">
              <a:solidFill>
                <a:schemeClr val="tx1"/>
              </a:solidFill>
              <a:ea typeface="Calibri"/>
              <a:cs typeface="Calibri"/>
            </a:endParaRPr>
          </a:p>
        </p:txBody>
      </p:sp>
      <p:sp>
        <p:nvSpPr>
          <p:cNvPr id="11" name="Oval 10">
            <a:extLst>
              <a:ext uri="{FF2B5EF4-FFF2-40B4-BE49-F238E27FC236}">
                <a16:creationId xmlns:a16="http://schemas.microsoft.com/office/drawing/2014/main" id="{424D436F-DB03-5634-4550-FECB13128A5A}"/>
              </a:ext>
            </a:extLst>
          </p:cNvPr>
          <p:cNvSpPr/>
          <p:nvPr/>
        </p:nvSpPr>
        <p:spPr>
          <a:xfrm>
            <a:off x="3174204" y="4592978"/>
            <a:ext cx="1397000" cy="13081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tx1"/>
                </a:solidFill>
              </a:rPr>
              <a:t>Subagent</a:t>
            </a:r>
          </a:p>
        </p:txBody>
      </p:sp>
      <p:cxnSp>
        <p:nvCxnSpPr>
          <p:cNvPr id="12" name="Straight Arrow Connector 11">
            <a:extLst>
              <a:ext uri="{FF2B5EF4-FFF2-40B4-BE49-F238E27FC236}">
                <a16:creationId xmlns:a16="http://schemas.microsoft.com/office/drawing/2014/main" id="{D5D6199E-CAEE-DC5B-436D-1797CA55E0DB}"/>
              </a:ext>
            </a:extLst>
          </p:cNvPr>
          <p:cNvCxnSpPr/>
          <p:nvPr/>
        </p:nvCxnSpPr>
        <p:spPr>
          <a:xfrm>
            <a:off x="4398962" y="2045040"/>
            <a:ext cx="494109" cy="52982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E74480C-F55E-A1B8-F399-7ABE9025FDD3}"/>
              </a:ext>
            </a:extLst>
          </p:cNvPr>
          <p:cNvCxnSpPr>
            <a:cxnSpLocks/>
          </p:cNvCxnSpPr>
          <p:nvPr/>
        </p:nvCxnSpPr>
        <p:spPr>
          <a:xfrm flipV="1">
            <a:off x="3511949" y="3271383"/>
            <a:ext cx="1238248" cy="1190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EBB35A7-A026-E56E-3931-0D8FF45E8649}"/>
              </a:ext>
            </a:extLst>
          </p:cNvPr>
          <p:cNvCxnSpPr>
            <a:cxnSpLocks/>
          </p:cNvCxnSpPr>
          <p:nvPr/>
        </p:nvCxnSpPr>
        <p:spPr>
          <a:xfrm>
            <a:off x="6869509" y="3938132"/>
            <a:ext cx="648890" cy="6310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406E8F8-7234-D2CF-AB6A-56EE482F8F21}"/>
              </a:ext>
            </a:extLst>
          </p:cNvPr>
          <p:cNvCxnSpPr>
            <a:cxnSpLocks/>
          </p:cNvCxnSpPr>
          <p:nvPr/>
        </p:nvCxnSpPr>
        <p:spPr>
          <a:xfrm flipV="1">
            <a:off x="7065962" y="3259476"/>
            <a:ext cx="1428749" cy="2381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52BE83B-48E0-0862-517A-98318D3077EF}"/>
              </a:ext>
            </a:extLst>
          </p:cNvPr>
          <p:cNvCxnSpPr>
            <a:cxnSpLocks/>
          </p:cNvCxnSpPr>
          <p:nvPr/>
        </p:nvCxnSpPr>
        <p:spPr>
          <a:xfrm flipH="1">
            <a:off x="4428726" y="3944085"/>
            <a:ext cx="619127" cy="79176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0CCCA8D-92F8-8001-14A7-DC10D11C6527}"/>
              </a:ext>
            </a:extLst>
          </p:cNvPr>
          <p:cNvCxnSpPr>
            <a:cxnSpLocks/>
          </p:cNvCxnSpPr>
          <p:nvPr/>
        </p:nvCxnSpPr>
        <p:spPr>
          <a:xfrm flipH="1">
            <a:off x="6905224" y="2045038"/>
            <a:ext cx="476252" cy="54173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67FDAA6B-6860-C5FC-68CC-CB3E8587316A}"/>
              </a:ext>
            </a:extLst>
          </p:cNvPr>
          <p:cNvSpPr/>
          <p:nvPr/>
        </p:nvSpPr>
        <p:spPr>
          <a:xfrm>
            <a:off x="4893072" y="2604634"/>
            <a:ext cx="2059779" cy="129182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rPr>
              <a:t>Message Pool</a:t>
            </a:r>
          </a:p>
        </p:txBody>
      </p:sp>
    </p:spTree>
    <p:extLst>
      <p:ext uri="{BB962C8B-B14F-4D97-AF65-F5344CB8AC3E}">
        <p14:creationId xmlns:p14="http://schemas.microsoft.com/office/powerpoint/2010/main" val="1250974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7E02-A339-99A6-3759-AC0EDA916DA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CB67794-BD56-D2A1-E244-DDCBCBDA4EA2}"/>
              </a:ext>
            </a:extLst>
          </p:cNvPr>
          <p:cNvSpPr>
            <a:spLocks noGrp="1"/>
          </p:cNvSpPr>
          <p:nvPr>
            <p:ph type="title"/>
          </p:nvPr>
        </p:nvSpPr>
        <p:spPr/>
        <p:txBody>
          <a:bodyPr lIns="91440" tIns="45720" rIns="91440" bIns="45720" anchor="ctr">
            <a:normAutofit/>
          </a:bodyPr>
          <a:lstStyle/>
          <a:p>
            <a:r>
              <a:rPr lang="de-DE"/>
              <a:t>MCP am Beispiel Zentral</a:t>
            </a:r>
            <a:endParaRPr lang="en-US"/>
          </a:p>
        </p:txBody>
      </p:sp>
      <p:sp>
        <p:nvSpPr>
          <p:cNvPr id="6" name="Ellipse 5">
            <a:extLst>
              <a:ext uri="{FF2B5EF4-FFF2-40B4-BE49-F238E27FC236}">
                <a16:creationId xmlns:a16="http://schemas.microsoft.com/office/drawing/2014/main" id="{C4A03249-B114-0D8A-B7AD-AF7A4E1884FB}"/>
              </a:ext>
            </a:extLst>
          </p:cNvPr>
          <p:cNvSpPr/>
          <p:nvPr/>
        </p:nvSpPr>
        <p:spPr>
          <a:xfrm>
            <a:off x="5324475" y="834567"/>
            <a:ext cx="1543050" cy="774700"/>
          </a:xfrm>
          <a:prstGeom prst="ellipse">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User</a:t>
            </a:r>
          </a:p>
        </p:txBody>
      </p:sp>
      <p:sp>
        <p:nvSpPr>
          <p:cNvPr id="7" name="Rechteck: abgerundete Ecken 6">
            <a:extLst>
              <a:ext uri="{FF2B5EF4-FFF2-40B4-BE49-F238E27FC236}">
                <a16:creationId xmlns:a16="http://schemas.microsoft.com/office/drawing/2014/main" id="{998CEF47-47D0-1213-AFBD-EA9938211FEA}"/>
              </a:ext>
            </a:extLst>
          </p:cNvPr>
          <p:cNvSpPr/>
          <p:nvPr/>
        </p:nvSpPr>
        <p:spPr>
          <a:xfrm>
            <a:off x="5416550" y="2152650"/>
            <a:ext cx="1358900" cy="812800"/>
          </a:xfrm>
          <a:prstGeom prst="roundRect">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Main Agent</a:t>
            </a:r>
          </a:p>
        </p:txBody>
      </p:sp>
      <p:sp>
        <p:nvSpPr>
          <p:cNvPr id="11" name="Rechteck: abgerundete Ecken 10">
            <a:extLst>
              <a:ext uri="{FF2B5EF4-FFF2-40B4-BE49-F238E27FC236}">
                <a16:creationId xmlns:a16="http://schemas.microsoft.com/office/drawing/2014/main" id="{EC05DB55-DB60-E5C9-5112-0E2BBF874361}"/>
              </a:ext>
            </a:extLst>
          </p:cNvPr>
          <p:cNvSpPr/>
          <p:nvPr/>
        </p:nvSpPr>
        <p:spPr>
          <a:xfrm>
            <a:off x="8099425" y="4331126"/>
            <a:ext cx="1358900" cy="812800"/>
          </a:xfrm>
          <a:prstGeom prst="roundRect">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Robot Agent 4</a:t>
            </a:r>
          </a:p>
        </p:txBody>
      </p:sp>
      <p:sp>
        <p:nvSpPr>
          <p:cNvPr id="13" name="Rechteck: abgerundete Ecken 12">
            <a:extLst>
              <a:ext uri="{FF2B5EF4-FFF2-40B4-BE49-F238E27FC236}">
                <a16:creationId xmlns:a16="http://schemas.microsoft.com/office/drawing/2014/main" id="{6322BC55-D4CF-8548-13E9-8FBA6C4FD02D}"/>
              </a:ext>
            </a:extLst>
          </p:cNvPr>
          <p:cNvSpPr/>
          <p:nvPr/>
        </p:nvSpPr>
        <p:spPr>
          <a:xfrm>
            <a:off x="6337300" y="4331126"/>
            <a:ext cx="1358900" cy="812800"/>
          </a:xfrm>
          <a:prstGeom prst="roundRect">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Robot Agent 3</a:t>
            </a:r>
          </a:p>
        </p:txBody>
      </p:sp>
      <p:sp>
        <p:nvSpPr>
          <p:cNvPr id="14" name="Rechteck: abgerundete Ecken 13">
            <a:extLst>
              <a:ext uri="{FF2B5EF4-FFF2-40B4-BE49-F238E27FC236}">
                <a16:creationId xmlns:a16="http://schemas.microsoft.com/office/drawing/2014/main" id="{48EB5055-B203-1543-31DB-1B576C2F75A3}"/>
              </a:ext>
            </a:extLst>
          </p:cNvPr>
          <p:cNvSpPr/>
          <p:nvPr/>
        </p:nvSpPr>
        <p:spPr>
          <a:xfrm>
            <a:off x="4575175" y="4337476"/>
            <a:ext cx="1358900" cy="812800"/>
          </a:xfrm>
          <a:prstGeom prst="roundRect">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Robot Agent 2</a:t>
            </a:r>
          </a:p>
        </p:txBody>
      </p:sp>
      <p:sp>
        <p:nvSpPr>
          <p:cNvPr id="15" name="Rechteck: abgerundete Ecken 14">
            <a:extLst>
              <a:ext uri="{FF2B5EF4-FFF2-40B4-BE49-F238E27FC236}">
                <a16:creationId xmlns:a16="http://schemas.microsoft.com/office/drawing/2014/main" id="{61C0DC0B-FF5D-0851-DE1C-06878E8F3F7C}"/>
              </a:ext>
            </a:extLst>
          </p:cNvPr>
          <p:cNvSpPr/>
          <p:nvPr/>
        </p:nvSpPr>
        <p:spPr>
          <a:xfrm>
            <a:off x="2813050" y="4331126"/>
            <a:ext cx="1358900" cy="812800"/>
          </a:xfrm>
          <a:prstGeom prst="roundRect">
            <a:avLst/>
          </a:prstGeom>
          <a:ln w="28575">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ysClr val="windowText" lastClr="000000"/>
                </a:solidFill>
              </a:rPr>
              <a:t>Robot Agent 1</a:t>
            </a:r>
          </a:p>
        </p:txBody>
      </p:sp>
      <p:cxnSp>
        <p:nvCxnSpPr>
          <p:cNvPr id="20" name="Verbinder: gewinkelt 19">
            <a:extLst>
              <a:ext uri="{FF2B5EF4-FFF2-40B4-BE49-F238E27FC236}">
                <a16:creationId xmlns:a16="http://schemas.microsoft.com/office/drawing/2014/main" id="{5B72A97B-D4ED-3B6A-D6A7-F1DB043A9FFE}"/>
              </a:ext>
            </a:extLst>
          </p:cNvPr>
          <p:cNvCxnSpPr>
            <a:cxnSpLocks/>
            <a:stCxn id="7" idx="2"/>
            <a:endCxn id="11" idx="0"/>
          </p:cNvCxnSpPr>
          <p:nvPr/>
        </p:nvCxnSpPr>
        <p:spPr>
          <a:xfrm rot="16200000" flipH="1">
            <a:off x="6754599" y="2306850"/>
            <a:ext cx="1365676" cy="2682875"/>
          </a:xfrm>
          <a:prstGeom prst="bentConnector3">
            <a:avLst>
              <a:gd name="adj1" fmla="val 50000"/>
            </a:avLst>
          </a:prstGeom>
          <a:ln>
            <a:solidFill>
              <a:schemeClr val="bg2">
                <a:lumMod val="10000"/>
              </a:schemeClr>
            </a:solidFill>
            <a:tailEnd type="triangle"/>
          </a:ln>
        </p:spPr>
        <p:style>
          <a:lnRef idx="3">
            <a:schemeClr val="dk1"/>
          </a:lnRef>
          <a:fillRef idx="0">
            <a:schemeClr val="dk1"/>
          </a:fillRef>
          <a:effectRef idx="2">
            <a:schemeClr val="dk1"/>
          </a:effectRef>
          <a:fontRef idx="minor">
            <a:schemeClr val="tx1"/>
          </a:fontRef>
        </p:style>
      </p:cxnSp>
      <p:cxnSp>
        <p:nvCxnSpPr>
          <p:cNvPr id="23" name="Verbinder: gewinkelt 22">
            <a:extLst>
              <a:ext uri="{FF2B5EF4-FFF2-40B4-BE49-F238E27FC236}">
                <a16:creationId xmlns:a16="http://schemas.microsoft.com/office/drawing/2014/main" id="{1E87C720-3CCE-9BD9-44CF-E558EE2E2C8A}"/>
              </a:ext>
            </a:extLst>
          </p:cNvPr>
          <p:cNvCxnSpPr>
            <a:cxnSpLocks/>
            <a:stCxn id="7" idx="2"/>
            <a:endCxn id="15" idx="0"/>
          </p:cNvCxnSpPr>
          <p:nvPr/>
        </p:nvCxnSpPr>
        <p:spPr>
          <a:xfrm rot="5400000">
            <a:off x="4111412" y="2346538"/>
            <a:ext cx="1365676" cy="2603500"/>
          </a:xfrm>
          <a:prstGeom prst="bentConnector3">
            <a:avLst>
              <a:gd name="adj1" fmla="val 50000"/>
            </a:avLst>
          </a:prstGeom>
          <a:ln>
            <a:solidFill>
              <a:schemeClr val="bg2">
                <a:lumMod val="10000"/>
              </a:schemeClr>
            </a:solidFill>
            <a:tailEnd type="triangle"/>
          </a:ln>
        </p:spPr>
        <p:style>
          <a:lnRef idx="3">
            <a:schemeClr val="dk1"/>
          </a:lnRef>
          <a:fillRef idx="0">
            <a:schemeClr val="dk1"/>
          </a:fillRef>
          <a:effectRef idx="2">
            <a:schemeClr val="dk1"/>
          </a:effectRef>
          <a:fontRef idx="minor">
            <a:schemeClr val="tx1"/>
          </a:fontRef>
        </p:style>
      </p:cxnSp>
      <p:cxnSp>
        <p:nvCxnSpPr>
          <p:cNvPr id="26" name="Verbinder: gewinkelt 25">
            <a:extLst>
              <a:ext uri="{FF2B5EF4-FFF2-40B4-BE49-F238E27FC236}">
                <a16:creationId xmlns:a16="http://schemas.microsoft.com/office/drawing/2014/main" id="{57A58DCF-F9C7-CF77-64D3-FE0B587C063F}"/>
              </a:ext>
            </a:extLst>
          </p:cNvPr>
          <p:cNvCxnSpPr>
            <a:cxnSpLocks/>
            <a:stCxn id="7" idx="2"/>
            <a:endCxn id="14" idx="0"/>
          </p:cNvCxnSpPr>
          <p:nvPr/>
        </p:nvCxnSpPr>
        <p:spPr>
          <a:xfrm rot="5400000">
            <a:off x="4989300" y="3230776"/>
            <a:ext cx="1372026" cy="841375"/>
          </a:xfrm>
          <a:prstGeom prst="bentConnector3">
            <a:avLst>
              <a:gd name="adj1" fmla="val 50000"/>
            </a:avLst>
          </a:prstGeom>
          <a:ln>
            <a:solidFill>
              <a:schemeClr val="bg2">
                <a:lumMod val="10000"/>
              </a:schemeClr>
            </a:solidFill>
            <a:tailEnd type="triangle"/>
          </a:ln>
        </p:spPr>
        <p:style>
          <a:lnRef idx="3">
            <a:schemeClr val="dk1"/>
          </a:lnRef>
          <a:fillRef idx="0">
            <a:schemeClr val="dk1"/>
          </a:fillRef>
          <a:effectRef idx="2">
            <a:schemeClr val="dk1"/>
          </a:effectRef>
          <a:fontRef idx="minor">
            <a:schemeClr val="tx1"/>
          </a:fontRef>
        </p:style>
      </p:cxnSp>
      <p:cxnSp>
        <p:nvCxnSpPr>
          <p:cNvPr id="29" name="Verbinder: gewinkelt 28">
            <a:extLst>
              <a:ext uri="{FF2B5EF4-FFF2-40B4-BE49-F238E27FC236}">
                <a16:creationId xmlns:a16="http://schemas.microsoft.com/office/drawing/2014/main" id="{5275F4FE-CC3E-AD4E-0B86-BB691640ABBE}"/>
              </a:ext>
            </a:extLst>
          </p:cNvPr>
          <p:cNvCxnSpPr>
            <a:cxnSpLocks/>
            <a:stCxn id="7" idx="2"/>
            <a:endCxn id="13" idx="0"/>
          </p:cNvCxnSpPr>
          <p:nvPr/>
        </p:nvCxnSpPr>
        <p:spPr>
          <a:xfrm rot="16200000" flipH="1">
            <a:off x="5873537" y="3187913"/>
            <a:ext cx="1365676" cy="920750"/>
          </a:xfrm>
          <a:prstGeom prst="bentConnector3">
            <a:avLst>
              <a:gd name="adj1" fmla="val 50000"/>
            </a:avLst>
          </a:prstGeom>
          <a:ln>
            <a:solidFill>
              <a:schemeClr val="bg2">
                <a:lumMod val="10000"/>
              </a:schemeClr>
            </a:solidFill>
            <a:tailEnd type="triangle"/>
          </a:ln>
        </p:spPr>
        <p:style>
          <a:lnRef idx="3">
            <a:schemeClr val="dk1"/>
          </a:lnRef>
          <a:fillRef idx="0">
            <a:schemeClr val="dk1"/>
          </a:fillRef>
          <a:effectRef idx="2">
            <a:schemeClr val="dk1"/>
          </a:effectRef>
          <a:fontRef idx="minor">
            <a:schemeClr val="tx1"/>
          </a:fontRef>
        </p:style>
      </p:cxnSp>
      <p:cxnSp>
        <p:nvCxnSpPr>
          <p:cNvPr id="33" name="Gerade Verbindung mit Pfeil 32">
            <a:extLst>
              <a:ext uri="{FF2B5EF4-FFF2-40B4-BE49-F238E27FC236}">
                <a16:creationId xmlns:a16="http://schemas.microsoft.com/office/drawing/2014/main" id="{DF7FE017-E0A0-786F-F2EB-72750AA58267}"/>
              </a:ext>
            </a:extLst>
          </p:cNvPr>
          <p:cNvCxnSpPr>
            <a:cxnSpLocks/>
            <a:stCxn id="6" idx="4"/>
            <a:endCxn id="7" idx="0"/>
          </p:cNvCxnSpPr>
          <p:nvPr/>
        </p:nvCxnSpPr>
        <p:spPr>
          <a:xfrm>
            <a:off x="6096000" y="1609267"/>
            <a:ext cx="0" cy="543383"/>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feld 45">
            <a:extLst>
              <a:ext uri="{FF2B5EF4-FFF2-40B4-BE49-F238E27FC236}">
                <a16:creationId xmlns:a16="http://schemas.microsoft.com/office/drawing/2014/main" id="{E67F7A89-FE8B-A40A-06B1-88580F04BAEF}"/>
              </a:ext>
            </a:extLst>
          </p:cNvPr>
          <p:cNvSpPr txBox="1"/>
          <p:nvPr/>
        </p:nvSpPr>
        <p:spPr>
          <a:xfrm>
            <a:off x="747435" y="2328217"/>
            <a:ext cx="5754079" cy="461665"/>
          </a:xfrm>
          <a:prstGeom prst="rect">
            <a:avLst/>
          </a:prstGeom>
          <a:noFill/>
        </p:spPr>
        <p:txBody>
          <a:bodyPr wrap="square" rtlCol="0">
            <a:spAutoFit/>
          </a:bodyPr>
          <a:lstStyle/>
          <a:p>
            <a:r>
              <a:rPr lang="de-DE" sz="2400" b="1" dirty="0"/>
              <a:t>Übergeordneter Agent</a:t>
            </a:r>
          </a:p>
        </p:txBody>
      </p:sp>
      <p:sp>
        <p:nvSpPr>
          <p:cNvPr id="47" name="Textfeld 46">
            <a:extLst>
              <a:ext uri="{FF2B5EF4-FFF2-40B4-BE49-F238E27FC236}">
                <a16:creationId xmlns:a16="http://schemas.microsoft.com/office/drawing/2014/main" id="{05C8EFE2-7DA9-5081-A4E6-A6B865E3386A}"/>
              </a:ext>
            </a:extLst>
          </p:cNvPr>
          <p:cNvSpPr txBox="1"/>
          <p:nvPr/>
        </p:nvSpPr>
        <p:spPr>
          <a:xfrm>
            <a:off x="747434" y="4506693"/>
            <a:ext cx="5754079" cy="461665"/>
          </a:xfrm>
          <a:prstGeom prst="rect">
            <a:avLst/>
          </a:prstGeom>
          <a:noFill/>
        </p:spPr>
        <p:txBody>
          <a:bodyPr wrap="square" rtlCol="0">
            <a:spAutoFit/>
          </a:bodyPr>
          <a:lstStyle/>
          <a:p>
            <a:r>
              <a:rPr lang="de-DE" sz="2400" b="1" dirty="0"/>
              <a:t>Subagenten</a:t>
            </a:r>
          </a:p>
        </p:txBody>
      </p:sp>
      <p:sp>
        <p:nvSpPr>
          <p:cNvPr id="2" name="Rechteck 1">
            <a:extLst>
              <a:ext uri="{FF2B5EF4-FFF2-40B4-BE49-F238E27FC236}">
                <a16:creationId xmlns:a16="http://schemas.microsoft.com/office/drawing/2014/main" id="{923A5240-80B2-148A-D62B-B12A93948D46}"/>
              </a:ext>
            </a:extLst>
          </p:cNvPr>
          <p:cNvSpPr/>
          <p:nvPr/>
        </p:nvSpPr>
        <p:spPr>
          <a:xfrm>
            <a:off x="9696323" y="2009795"/>
            <a:ext cx="1926990" cy="1098508"/>
          </a:xfrm>
          <a:prstGeom prst="rect">
            <a:avLst/>
          </a:prstGeom>
          <a:ln>
            <a:solidFill>
              <a:schemeClr val="bg2">
                <a:lumMod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t>MCP-Server</a:t>
            </a:r>
          </a:p>
        </p:txBody>
      </p:sp>
      <p:cxnSp>
        <p:nvCxnSpPr>
          <p:cNvPr id="5" name="Verbinder: gewinkelt 4">
            <a:extLst>
              <a:ext uri="{FF2B5EF4-FFF2-40B4-BE49-F238E27FC236}">
                <a16:creationId xmlns:a16="http://schemas.microsoft.com/office/drawing/2014/main" id="{09BB0036-A0FA-FC99-3C15-A93085FD2513}"/>
              </a:ext>
            </a:extLst>
          </p:cNvPr>
          <p:cNvCxnSpPr>
            <a:stCxn id="2" idx="2"/>
            <a:endCxn id="11" idx="2"/>
          </p:cNvCxnSpPr>
          <p:nvPr/>
        </p:nvCxnSpPr>
        <p:spPr>
          <a:xfrm rot="5400000">
            <a:off x="8701536" y="3185643"/>
            <a:ext cx="2035623" cy="1880943"/>
          </a:xfrm>
          <a:prstGeom prst="bentConnector3">
            <a:avLst>
              <a:gd name="adj1" fmla="val 111230"/>
            </a:avLst>
          </a:prstGeom>
          <a:ln w="12700">
            <a:solidFill>
              <a:schemeClr val="bg2">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Verbinder: gewinkelt 7">
            <a:extLst>
              <a:ext uri="{FF2B5EF4-FFF2-40B4-BE49-F238E27FC236}">
                <a16:creationId xmlns:a16="http://schemas.microsoft.com/office/drawing/2014/main" id="{04299CF0-8166-8122-EC58-C4943D87BFD9}"/>
              </a:ext>
            </a:extLst>
          </p:cNvPr>
          <p:cNvCxnSpPr>
            <a:cxnSpLocks/>
            <a:stCxn id="2" idx="2"/>
            <a:endCxn id="13" idx="2"/>
          </p:cNvCxnSpPr>
          <p:nvPr/>
        </p:nvCxnSpPr>
        <p:spPr>
          <a:xfrm rot="5400000">
            <a:off x="7820473" y="2304580"/>
            <a:ext cx="2035623" cy="3643068"/>
          </a:xfrm>
          <a:prstGeom prst="bentConnector3">
            <a:avLst>
              <a:gd name="adj1" fmla="val 111230"/>
            </a:avLst>
          </a:prstGeom>
          <a:ln w="12700">
            <a:solidFill>
              <a:schemeClr val="bg2">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Verbinder: gewinkelt 11">
            <a:extLst>
              <a:ext uri="{FF2B5EF4-FFF2-40B4-BE49-F238E27FC236}">
                <a16:creationId xmlns:a16="http://schemas.microsoft.com/office/drawing/2014/main" id="{7B540639-50A7-CA7A-35E3-445070BF88D7}"/>
              </a:ext>
            </a:extLst>
          </p:cNvPr>
          <p:cNvCxnSpPr>
            <a:cxnSpLocks/>
            <a:stCxn id="2" idx="2"/>
            <a:endCxn id="14" idx="2"/>
          </p:cNvCxnSpPr>
          <p:nvPr/>
        </p:nvCxnSpPr>
        <p:spPr>
          <a:xfrm rot="5400000">
            <a:off x="6936236" y="1426693"/>
            <a:ext cx="2041973" cy="5405193"/>
          </a:xfrm>
          <a:prstGeom prst="bentConnector3">
            <a:avLst>
              <a:gd name="adj1" fmla="val 111195"/>
            </a:avLst>
          </a:prstGeom>
          <a:ln w="12700">
            <a:solidFill>
              <a:schemeClr val="bg2">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Verbinder: gewinkelt 17">
            <a:extLst>
              <a:ext uri="{FF2B5EF4-FFF2-40B4-BE49-F238E27FC236}">
                <a16:creationId xmlns:a16="http://schemas.microsoft.com/office/drawing/2014/main" id="{673BE2B8-379A-62BA-6D39-8382A4F50EC2}"/>
              </a:ext>
            </a:extLst>
          </p:cNvPr>
          <p:cNvCxnSpPr>
            <a:cxnSpLocks/>
            <a:stCxn id="2" idx="2"/>
            <a:endCxn id="15" idx="2"/>
          </p:cNvCxnSpPr>
          <p:nvPr/>
        </p:nvCxnSpPr>
        <p:spPr>
          <a:xfrm rot="5400000">
            <a:off x="6058348" y="542455"/>
            <a:ext cx="2035623" cy="7167318"/>
          </a:xfrm>
          <a:prstGeom prst="bentConnector3">
            <a:avLst>
              <a:gd name="adj1" fmla="val 111230"/>
            </a:avLst>
          </a:prstGeom>
          <a:ln w="12700">
            <a:solidFill>
              <a:schemeClr val="bg2">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BBBF0339-B5A5-987F-3944-8C8AB5D3ED9B}"/>
              </a:ext>
            </a:extLst>
          </p:cNvPr>
          <p:cNvCxnSpPr>
            <a:cxnSpLocks/>
            <a:stCxn id="2" idx="1"/>
            <a:endCxn id="7" idx="3"/>
          </p:cNvCxnSpPr>
          <p:nvPr/>
        </p:nvCxnSpPr>
        <p:spPr>
          <a:xfrm flipH="1">
            <a:off x="6775450" y="2559049"/>
            <a:ext cx="2920873" cy="1"/>
          </a:xfrm>
          <a:prstGeom prst="straightConnector1">
            <a:avLst/>
          </a:prstGeom>
          <a:ln w="12700">
            <a:solidFill>
              <a:schemeClr val="bg2">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332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E8FBB-841A-52AA-3799-3C97351C7EEB}"/>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4AF0C48-9F40-DC40-E2F9-468A652A7C04}"/>
              </a:ext>
            </a:extLst>
          </p:cNvPr>
          <p:cNvSpPr>
            <a:spLocks noGrp="1"/>
          </p:cNvSpPr>
          <p:nvPr>
            <p:ph type="title"/>
          </p:nvPr>
        </p:nvSpPr>
        <p:spPr/>
        <p:txBody>
          <a:bodyPr lIns="91440" tIns="45720" rIns="91440" bIns="45720" anchor="ctr">
            <a:normAutofit/>
          </a:bodyPr>
          <a:lstStyle/>
          <a:p>
            <a:r>
              <a:rPr lang="de-DE">
                <a:latin typeface="Aptos"/>
              </a:rPr>
              <a:t>Kommunikation am Beispiel Zentral</a:t>
            </a:r>
            <a:endParaRPr lang="en-US"/>
          </a:p>
        </p:txBody>
      </p:sp>
      <p:pic>
        <p:nvPicPr>
          <p:cNvPr id="6" name="Screencast from 2026-07-24 04-09-32">
            <a:hlinkClick r:id="" action="ppaction://media"/>
            <a:extLst>
              <a:ext uri="{FF2B5EF4-FFF2-40B4-BE49-F238E27FC236}">
                <a16:creationId xmlns:a16="http://schemas.microsoft.com/office/drawing/2014/main" id="{289A90A6-158D-F3C6-A6BA-33215C4C94E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9200" y="685800"/>
            <a:ext cx="9753600" cy="5486400"/>
          </a:xfrm>
          <a:prstGeom prst="rect">
            <a:avLst/>
          </a:prstGeom>
        </p:spPr>
      </p:pic>
    </p:spTree>
    <p:extLst>
      <p:ext uri="{BB962C8B-B14F-4D97-AF65-F5344CB8AC3E}">
        <p14:creationId xmlns:p14="http://schemas.microsoft.com/office/powerpoint/2010/main" val="341677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D8C9E-4042-98A0-4DFA-DAE527ECCCD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FFC08DC-796A-EE66-4DBA-FCC68586E17D}"/>
              </a:ext>
            </a:extLst>
          </p:cNvPr>
          <p:cNvSpPr>
            <a:spLocks noGrp="1"/>
          </p:cNvSpPr>
          <p:nvPr>
            <p:ph type="title"/>
          </p:nvPr>
        </p:nvSpPr>
        <p:spPr/>
        <p:txBody>
          <a:bodyPr lIns="91440" tIns="45720" rIns="91440" bIns="45720" anchor="ctr">
            <a:normAutofit/>
          </a:bodyPr>
          <a:lstStyle/>
          <a:p>
            <a:r>
              <a:rPr lang="de-DE"/>
              <a:t>Experimente</a:t>
            </a:r>
          </a:p>
        </p:txBody>
      </p:sp>
      <p:pic>
        <p:nvPicPr>
          <p:cNvPr id="6" name="Content Placeholder 5">
            <a:extLst>
              <a:ext uri="{FF2B5EF4-FFF2-40B4-BE49-F238E27FC236}">
                <a16:creationId xmlns:a16="http://schemas.microsoft.com/office/drawing/2014/main" id="{A5D781CF-4BC4-2B93-3C63-0B9D4FA99440}"/>
              </a:ext>
            </a:extLst>
          </p:cNvPr>
          <p:cNvPicPr>
            <a:picLocks noGrp="1" noChangeAspect="1"/>
          </p:cNvPicPr>
          <p:nvPr>
            <p:ph idx="1"/>
          </p:nvPr>
        </p:nvPicPr>
        <p:blipFill>
          <a:blip r:embed="rId3"/>
          <a:srcRect r="121" b="142"/>
          <a:stretch>
            <a:fillRect/>
          </a:stretch>
        </p:blipFill>
        <p:spPr>
          <a:xfrm>
            <a:off x="3084588" y="1106829"/>
            <a:ext cx="5983955" cy="5107660"/>
          </a:xfrm>
          <a:prstGeom prst="rect">
            <a:avLst/>
          </a:prstGeom>
        </p:spPr>
      </p:pic>
    </p:spTree>
    <p:extLst>
      <p:ext uri="{BB962C8B-B14F-4D97-AF65-F5344CB8AC3E}">
        <p14:creationId xmlns:p14="http://schemas.microsoft.com/office/powerpoint/2010/main" val="1343055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6007B-25D2-33BF-B7B7-E27AF1A6C05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68DE94D-EB32-E2DB-8E4C-9C9CD67FF7AB}"/>
              </a:ext>
            </a:extLst>
          </p:cNvPr>
          <p:cNvSpPr>
            <a:spLocks noGrp="1"/>
          </p:cNvSpPr>
          <p:nvPr>
            <p:ph type="title"/>
          </p:nvPr>
        </p:nvSpPr>
        <p:spPr/>
        <p:txBody>
          <a:bodyPr lIns="91440" tIns="45720" rIns="91440" bIns="45720" anchor="ctr">
            <a:normAutofit/>
          </a:bodyPr>
          <a:lstStyle/>
          <a:p>
            <a:r>
              <a:rPr lang="de-DE"/>
              <a:t>Experimente</a:t>
            </a:r>
          </a:p>
        </p:txBody>
      </p:sp>
      <p:pic>
        <p:nvPicPr>
          <p:cNvPr id="5" name="Screencast from 2026-07-24 04-21-03">
            <a:hlinkClick r:id="" action="ppaction://media"/>
            <a:extLst>
              <a:ext uri="{FF2B5EF4-FFF2-40B4-BE49-F238E27FC236}">
                <a16:creationId xmlns:a16="http://schemas.microsoft.com/office/drawing/2014/main" id="{E3EA4212-A05A-2C5A-CD68-B162FA6650C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9200" y="685800"/>
            <a:ext cx="9753600" cy="5486400"/>
          </a:xfrm>
          <a:prstGeom prst="rect">
            <a:avLst/>
          </a:prstGeom>
        </p:spPr>
      </p:pic>
    </p:spTree>
    <p:extLst>
      <p:ext uri="{BB962C8B-B14F-4D97-AF65-F5344CB8AC3E}">
        <p14:creationId xmlns:p14="http://schemas.microsoft.com/office/powerpoint/2010/main" val="229151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a:extLst>
              <a:ext uri="{FF2B5EF4-FFF2-40B4-BE49-F238E27FC236}">
                <a16:creationId xmlns:a16="http://schemas.microsoft.com/office/drawing/2014/main" id="{D0C5F13B-63AA-D2F7-806D-BF3014F12E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8945" y="1006475"/>
            <a:ext cx="7922359" cy="5316538"/>
          </a:xfrm>
          <a:prstGeom prst="rect">
            <a:avLst/>
          </a:prstGeom>
        </p:spPr>
      </p:pic>
      <p:sp>
        <p:nvSpPr>
          <p:cNvPr id="3" name="Titel 2">
            <a:extLst>
              <a:ext uri="{FF2B5EF4-FFF2-40B4-BE49-F238E27FC236}">
                <a16:creationId xmlns:a16="http://schemas.microsoft.com/office/drawing/2014/main" id="{90B940CF-A20D-E2A6-D5AD-40A1FB1418CE}"/>
              </a:ext>
            </a:extLst>
          </p:cNvPr>
          <p:cNvSpPr>
            <a:spLocks noGrp="1"/>
          </p:cNvSpPr>
          <p:nvPr>
            <p:ph type="title"/>
          </p:nvPr>
        </p:nvSpPr>
        <p:spPr/>
        <p:txBody>
          <a:bodyPr lIns="91440" tIns="45720" rIns="91440" bIns="45720" anchor="ctr">
            <a:normAutofit/>
          </a:bodyPr>
          <a:lstStyle/>
          <a:p>
            <a:r>
              <a:rPr lang="de-DE">
                <a:ea typeface="+mn-lt"/>
                <a:cs typeface="+mn-lt"/>
              </a:rPr>
              <a:t>Turtlebot3 Burger</a:t>
            </a:r>
            <a:endParaRPr lang="de-DE" dirty="0">
              <a:ea typeface="+mn-lt"/>
              <a:cs typeface="+mn-lt"/>
            </a:endParaRPr>
          </a:p>
        </p:txBody>
      </p:sp>
    </p:spTree>
    <p:extLst>
      <p:ext uri="{BB962C8B-B14F-4D97-AF65-F5344CB8AC3E}">
        <p14:creationId xmlns:p14="http://schemas.microsoft.com/office/powerpoint/2010/main" val="805670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88DBB-7C66-C904-232C-37B0011FAC29}"/>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FB40BF12-5F0E-F0FF-D15F-93106F51DAA1}"/>
              </a:ext>
            </a:extLst>
          </p:cNvPr>
          <p:cNvSpPr>
            <a:spLocks noGrp="1"/>
          </p:cNvSpPr>
          <p:nvPr>
            <p:ph idx="1"/>
          </p:nvPr>
        </p:nvSpPr>
        <p:spPr/>
        <p:txBody>
          <a:bodyPr lIns="91440" tIns="45720" rIns="91440" bIns="45720" anchor="t">
            <a:normAutofit/>
          </a:bodyPr>
          <a:lstStyle/>
          <a:p>
            <a:pPr marL="342900" indent="-342900">
              <a:buFont typeface="Arial" pitchFamily="2" charset="2"/>
              <a:buChar char="•"/>
            </a:pPr>
            <a:endParaRPr lang="de-DE" dirty="0"/>
          </a:p>
          <a:p>
            <a:pPr marL="342900" indent="-342900">
              <a:buFont typeface="Arial" pitchFamily="2" charset="2"/>
              <a:buChar char="•"/>
            </a:pPr>
            <a:r>
              <a:rPr lang="de-DE"/>
              <a:t>Skalierbarkeit</a:t>
            </a:r>
            <a:endParaRPr lang="de-DE" dirty="0"/>
          </a:p>
          <a:p>
            <a:pPr marL="342900" indent="-342900">
              <a:buFont typeface="Arial" pitchFamily="2" charset="2"/>
              <a:buChar char="•"/>
            </a:pPr>
            <a:endParaRPr lang="de-DE" dirty="0">
              <a:ea typeface="Calibri"/>
              <a:cs typeface="Calibri"/>
            </a:endParaRPr>
          </a:p>
          <a:p>
            <a:pPr marL="342900" indent="-342900">
              <a:buFont typeface="Arial" pitchFamily="2" charset="2"/>
              <a:buChar char="•"/>
            </a:pPr>
            <a:r>
              <a:rPr lang="de-DE" dirty="0">
                <a:ea typeface="Calibri"/>
                <a:cs typeface="Calibri"/>
              </a:rPr>
              <a:t>Task Success Rate (TSR = </a:t>
            </a:r>
            <a:r>
              <a:rPr lang="de-DE" dirty="0" err="1">
                <a:ea typeface="Calibri"/>
                <a:cs typeface="Calibri"/>
              </a:rPr>
              <a:t>successful</a:t>
            </a:r>
            <a:r>
              <a:rPr lang="de-DE" dirty="0">
                <a:ea typeface="Calibri"/>
                <a:cs typeface="Calibri"/>
              </a:rPr>
              <a:t> </a:t>
            </a:r>
            <a:r>
              <a:rPr lang="de-DE" dirty="0" err="1">
                <a:ea typeface="Calibri"/>
                <a:cs typeface="Calibri"/>
              </a:rPr>
              <a:t>runs</a:t>
            </a:r>
            <a:r>
              <a:rPr lang="de-DE" dirty="0">
                <a:ea typeface="Calibri"/>
                <a:cs typeface="Calibri"/>
              </a:rPr>
              <a:t>/all </a:t>
            </a:r>
            <a:r>
              <a:rPr lang="de-DE" dirty="0" err="1">
                <a:ea typeface="Calibri"/>
                <a:cs typeface="Calibri"/>
              </a:rPr>
              <a:t>runs</a:t>
            </a:r>
            <a:r>
              <a:rPr lang="de-DE" dirty="0">
                <a:ea typeface="Calibri"/>
                <a:cs typeface="Calibri"/>
              </a:rPr>
              <a:t>)</a:t>
            </a:r>
            <a:endParaRPr lang="de-DE" dirty="0"/>
          </a:p>
          <a:p>
            <a:pPr marL="342900" indent="-342900">
              <a:buFont typeface="Arial" pitchFamily="2" charset="2"/>
              <a:buChar char="•"/>
            </a:pPr>
            <a:endParaRPr lang="de-DE" dirty="0"/>
          </a:p>
          <a:p>
            <a:pPr marL="342900" indent="-342900">
              <a:buFont typeface="Arial" pitchFamily="2" charset="2"/>
              <a:buChar char="•"/>
            </a:pPr>
            <a:r>
              <a:rPr lang="de-DE" dirty="0"/>
              <a:t>Token-</a:t>
            </a:r>
            <a:r>
              <a:rPr lang="de-DE" dirty="0" err="1"/>
              <a:t>Usage</a:t>
            </a:r>
            <a:endParaRPr lang="de-DE"/>
          </a:p>
          <a:p>
            <a:pPr marL="342900" indent="-342900">
              <a:buFont typeface="Arial" pitchFamily="2" charset="2"/>
              <a:buChar char="•"/>
            </a:pPr>
            <a:endParaRPr lang="de-DE" dirty="0"/>
          </a:p>
          <a:p>
            <a:pPr marL="342900" indent="-342900">
              <a:buFont typeface="Arial" pitchFamily="2" charset="2"/>
              <a:buChar char="•"/>
            </a:pPr>
            <a:r>
              <a:rPr lang="de-DE"/>
              <a:t>End-to-End Lösungszeit</a:t>
            </a:r>
            <a:endParaRPr lang="de-DE" dirty="0"/>
          </a:p>
          <a:p>
            <a:pPr marL="342900" indent="-342900">
              <a:buFont typeface="Arial" pitchFamily="2" charset="2"/>
              <a:buChar char="•"/>
            </a:pPr>
            <a:endParaRPr lang="de-DE" dirty="0"/>
          </a:p>
          <a:p>
            <a:pPr marL="342900" indent="-342900">
              <a:buFont typeface="Arial" pitchFamily="2" charset="2"/>
              <a:buChar char="•"/>
            </a:pPr>
            <a:r>
              <a:rPr lang="de-DE"/>
              <a:t>Anzahl Schritte bis zur Lösung</a:t>
            </a:r>
            <a:endParaRPr lang="de-DE" dirty="0"/>
          </a:p>
          <a:p>
            <a:pPr marL="0" indent="0">
              <a:buNone/>
            </a:pPr>
            <a:endParaRPr lang="de-DE" b="1" dirty="0"/>
          </a:p>
          <a:p>
            <a:pPr marL="0" indent="0">
              <a:buNone/>
            </a:pPr>
            <a:endParaRPr lang="de-DE" dirty="0"/>
          </a:p>
        </p:txBody>
      </p:sp>
      <p:sp>
        <p:nvSpPr>
          <p:cNvPr id="3" name="Titel 2">
            <a:extLst>
              <a:ext uri="{FF2B5EF4-FFF2-40B4-BE49-F238E27FC236}">
                <a16:creationId xmlns:a16="http://schemas.microsoft.com/office/drawing/2014/main" id="{949F6311-3A61-E946-AA0A-BBF955C2EB26}"/>
              </a:ext>
            </a:extLst>
          </p:cNvPr>
          <p:cNvSpPr>
            <a:spLocks noGrp="1"/>
          </p:cNvSpPr>
          <p:nvPr>
            <p:ph type="title"/>
          </p:nvPr>
        </p:nvSpPr>
        <p:spPr/>
        <p:txBody>
          <a:bodyPr lIns="91440" tIns="45720" rIns="91440" bIns="45720" anchor="ctr">
            <a:normAutofit/>
          </a:bodyPr>
          <a:lstStyle/>
          <a:p>
            <a:r>
              <a:rPr lang="de-DE" dirty="0"/>
              <a:t>Kriter</a:t>
            </a:r>
            <a:r>
              <a:rPr lang="de-DE"/>
              <a:t>ien</a:t>
            </a:r>
            <a:endParaRPr lang="de-DE" dirty="0"/>
          </a:p>
        </p:txBody>
      </p:sp>
    </p:spTree>
    <p:extLst>
      <p:ext uri="{BB962C8B-B14F-4D97-AF65-F5344CB8AC3E}">
        <p14:creationId xmlns:p14="http://schemas.microsoft.com/office/powerpoint/2010/main" val="2578791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1C226A4-ABB3-510E-2A4D-299540046955}"/>
              </a:ext>
            </a:extLst>
          </p:cNvPr>
          <p:cNvSpPr>
            <a:spLocks noGrp="1"/>
          </p:cNvSpPr>
          <p:nvPr>
            <p:ph type="title"/>
          </p:nvPr>
        </p:nvSpPr>
        <p:spPr/>
        <p:txBody>
          <a:bodyPr lIns="91440" tIns="45720" rIns="91440" bIns="45720" anchor="ctr">
            <a:normAutofit/>
          </a:bodyPr>
          <a:lstStyle/>
          <a:p>
            <a:r>
              <a:rPr lang="de-DE" dirty="0" err="1"/>
              <a:t>Stations</a:t>
            </a:r>
            <a:r>
              <a:rPr lang="de-DE" dirty="0"/>
              <a:t> </a:t>
            </a:r>
          </a:p>
        </p:txBody>
      </p:sp>
      <p:pic>
        <p:nvPicPr>
          <p:cNvPr id="9" name="Content Placeholder 8">
            <a:extLst>
              <a:ext uri="{FF2B5EF4-FFF2-40B4-BE49-F238E27FC236}">
                <a16:creationId xmlns:a16="http://schemas.microsoft.com/office/drawing/2014/main" id="{195B3ED3-57E8-2981-48D4-8B62C0A0E50F}"/>
              </a:ext>
            </a:extLst>
          </p:cNvPr>
          <p:cNvPicPr>
            <a:picLocks noGrp="1" noChangeAspect="1"/>
          </p:cNvPicPr>
          <p:nvPr>
            <p:ph idx="1"/>
          </p:nvPr>
        </p:nvPicPr>
        <p:blipFill>
          <a:blip r:embed="rId3"/>
          <a:srcRect r="-113" b="124"/>
          <a:stretch>
            <a:fillRect/>
          </a:stretch>
        </p:blipFill>
        <p:spPr>
          <a:xfrm>
            <a:off x="5571001" y="831669"/>
            <a:ext cx="6010680" cy="5462690"/>
          </a:xfrm>
          <a:prstGeom prst="rect">
            <a:avLst/>
          </a:prstGeom>
        </p:spPr>
      </p:pic>
      <p:sp>
        <p:nvSpPr>
          <p:cNvPr id="2" name="TextBox 1">
            <a:extLst>
              <a:ext uri="{FF2B5EF4-FFF2-40B4-BE49-F238E27FC236}">
                <a16:creationId xmlns:a16="http://schemas.microsoft.com/office/drawing/2014/main" id="{4444F51F-7123-C223-AD2C-35F8E741866F}"/>
              </a:ext>
            </a:extLst>
          </p:cNvPr>
          <p:cNvSpPr txBox="1"/>
          <p:nvPr/>
        </p:nvSpPr>
        <p:spPr>
          <a:xfrm>
            <a:off x="294244" y="2086758"/>
            <a:ext cx="498697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mn-lt"/>
                <a:cs typeface="+mn-lt"/>
              </a:rPr>
              <a:t>Deliver package P1 from station A to C, package P2 from B to D, package P3 from C to A, and package P4 from D to B. Allocate the orders among the robots and complete all deliveries.</a:t>
            </a:r>
          </a:p>
        </p:txBody>
      </p:sp>
    </p:spTree>
    <p:extLst>
      <p:ext uri="{BB962C8B-B14F-4D97-AF65-F5344CB8AC3E}">
        <p14:creationId xmlns:p14="http://schemas.microsoft.com/office/powerpoint/2010/main" val="282002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C323-647C-C1F2-79EA-251AB3859C5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9DA3D91-52C8-5F74-03E5-2B539373FE65}"/>
              </a:ext>
            </a:extLst>
          </p:cNvPr>
          <p:cNvPicPr>
            <a:picLocks noGrp="1" noChangeAspect="1"/>
          </p:cNvPicPr>
          <p:nvPr>
            <p:ph idx="1"/>
          </p:nvPr>
        </p:nvPicPr>
        <p:blipFill>
          <a:blip r:embed="rId3"/>
          <a:srcRect r="-120"/>
          <a:stretch>
            <a:fillRect/>
          </a:stretch>
        </p:blipFill>
        <p:spPr>
          <a:xfrm>
            <a:off x="5572536" y="744583"/>
            <a:ext cx="5601093" cy="5469303"/>
          </a:xfrm>
          <a:prstGeom prst="rect">
            <a:avLst/>
          </a:prstGeom>
        </p:spPr>
      </p:pic>
      <p:sp>
        <p:nvSpPr>
          <p:cNvPr id="3" name="Titel 2">
            <a:extLst>
              <a:ext uri="{FF2B5EF4-FFF2-40B4-BE49-F238E27FC236}">
                <a16:creationId xmlns:a16="http://schemas.microsoft.com/office/drawing/2014/main" id="{04BA8FDB-8662-8220-F1E3-067CA3F5BF3B}"/>
              </a:ext>
            </a:extLst>
          </p:cNvPr>
          <p:cNvSpPr>
            <a:spLocks noGrp="1"/>
          </p:cNvSpPr>
          <p:nvPr>
            <p:ph type="title"/>
          </p:nvPr>
        </p:nvSpPr>
        <p:spPr/>
        <p:txBody>
          <a:bodyPr lIns="91440" tIns="45720" rIns="91440" bIns="45720" anchor="ctr">
            <a:normAutofit/>
          </a:bodyPr>
          <a:lstStyle/>
          <a:p>
            <a:r>
              <a:rPr lang="de-DE"/>
              <a:t>Bottleneck</a:t>
            </a:r>
            <a:endParaRPr lang="de-DE" dirty="0"/>
          </a:p>
        </p:txBody>
      </p:sp>
      <p:sp>
        <p:nvSpPr>
          <p:cNvPr id="2" name="TextBox 1">
            <a:extLst>
              <a:ext uri="{FF2B5EF4-FFF2-40B4-BE49-F238E27FC236}">
                <a16:creationId xmlns:a16="http://schemas.microsoft.com/office/drawing/2014/main" id="{EA5FC104-A486-1A79-5587-7EC8F3DB8A62}"/>
              </a:ext>
            </a:extLst>
          </p:cNvPr>
          <p:cNvSpPr txBox="1"/>
          <p:nvPr/>
        </p:nvSpPr>
        <p:spPr>
          <a:xfrm>
            <a:off x="461818" y="2043545"/>
            <a:ext cx="486954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ea typeface="Calibri"/>
                <a:cs typeface="Calibri"/>
              </a:rPr>
              <a:t>The robots should exchange their Positions by crossing the bottleneck. Robot 1 and Robot 3 should be </a:t>
            </a:r>
            <a:r>
              <a:rPr lang="en-US" sz="2800">
                <a:ea typeface="Calibri"/>
                <a:cs typeface="Calibri"/>
              </a:rPr>
              <a:t>prioritized.</a:t>
            </a:r>
            <a:endParaRPr lang="en-US" sz="2800" dirty="0">
              <a:ea typeface="Calibri"/>
              <a:cs typeface="Calibri"/>
            </a:endParaRPr>
          </a:p>
        </p:txBody>
      </p:sp>
    </p:spTree>
    <p:extLst>
      <p:ext uri="{BB962C8B-B14F-4D97-AF65-F5344CB8AC3E}">
        <p14:creationId xmlns:p14="http://schemas.microsoft.com/office/powerpoint/2010/main" val="2982109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A17A0-A2B7-9ECE-588F-2844D22EF4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3461343-9F04-31B4-85B4-7408228225BD}"/>
              </a:ext>
            </a:extLst>
          </p:cNvPr>
          <p:cNvPicPr>
            <a:picLocks noGrp="1" noChangeAspect="1"/>
          </p:cNvPicPr>
          <p:nvPr>
            <p:ph idx="1"/>
          </p:nvPr>
        </p:nvPicPr>
        <p:blipFill>
          <a:blip r:embed="rId3"/>
          <a:srcRect r="119"/>
          <a:stretch>
            <a:fillRect/>
          </a:stretch>
        </p:blipFill>
        <p:spPr>
          <a:xfrm>
            <a:off x="5568668" y="831669"/>
            <a:ext cx="5574270" cy="5621703"/>
          </a:xfrm>
          <a:prstGeom prst="rect">
            <a:avLst/>
          </a:prstGeom>
        </p:spPr>
      </p:pic>
      <p:sp>
        <p:nvSpPr>
          <p:cNvPr id="3" name="Titel 2">
            <a:extLst>
              <a:ext uri="{FF2B5EF4-FFF2-40B4-BE49-F238E27FC236}">
                <a16:creationId xmlns:a16="http://schemas.microsoft.com/office/drawing/2014/main" id="{694F7EAE-5F98-CE8B-40AA-6518A5C38B6A}"/>
              </a:ext>
            </a:extLst>
          </p:cNvPr>
          <p:cNvSpPr>
            <a:spLocks noGrp="1"/>
          </p:cNvSpPr>
          <p:nvPr>
            <p:ph type="title"/>
          </p:nvPr>
        </p:nvSpPr>
        <p:spPr/>
        <p:txBody>
          <a:bodyPr lIns="91440" tIns="45720" rIns="91440" bIns="45720" anchor="ctr">
            <a:normAutofit/>
          </a:bodyPr>
          <a:lstStyle/>
          <a:p>
            <a:r>
              <a:rPr lang="de-DE" dirty="0"/>
              <a:t>Cr</a:t>
            </a:r>
            <a:r>
              <a:rPr lang="de-DE"/>
              <a:t>oss</a:t>
            </a:r>
            <a:endParaRPr lang="de-DE" dirty="0"/>
          </a:p>
        </p:txBody>
      </p:sp>
      <p:sp>
        <p:nvSpPr>
          <p:cNvPr id="2" name="TextBox 1">
            <a:extLst>
              <a:ext uri="{FF2B5EF4-FFF2-40B4-BE49-F238E27FC236}">
                <a16:creationId xmlns:a16="http://schemas.microsoft.com/office/drawing/2014/main" id="{4ACEBE0C-34A8-E47C-BC15-5D07CA5B6C27}"/>
              </a:ext>
            </a:extLst>
          </p:cNvPr>
          <p:cNvSpPr txBox="1"/>
          <p:nvPr/>
        </p:nvSpPr>
        <p:spPr>
          <a:xfrm>
            <a:off x="374732" y="1535546"/>
            <a:ext cx="437803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Deliver all packages to their assigned destination stations. Coordinate task allocation and passage through the central bottleneck. No more than two robots may occupy the bottleneck at the same time. Avoid opposing traffic conflicts and complete all deliveries as quickly as possible.</a:t>
            </a:r>
            <a:endParaRPr lang="en-US" sz="2400"/>
          </a:p>
        </p:txBody>
      </p:sp>
    </p:spTree>
    <p:extLst>
      <p:ext uri="{BB962C8B-B14F-4D97-AF65-F5344CB8AC3E}">
        <p14:creationId xmlns:p14="http://schemas.microsoft.com/office/powerpoint/2010/main" val="2291397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B8F1-80BF-9FAC-DCE5-9EFFB1F06D1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8BF5E730-D32B-08B5-AEDD-5E6EB605404B}"/>
              </a:ext>
            </a:extLst>
          </p:cNvPr>
          <p:cNvSpPr>
            <a:spLocks noGrp="1"/>
          </p:cNvSpPr>
          <p:nvPr>
            <p:ph type="title"/>
          </p:nvPr>
        </p:nvSpPr>
        <p:spPr/>
        <p:txBody>
          <a:bodyPr lIns="91440" tIns="45720" rIns="91440" bIns="45720" anchor="ctr">
            <a:normAutofit/>
          </a:bodyPr>
          <a:lstStyle/>
          <a:p>
            <a:r>
              <a:rPr lang="de-DE"/>
              <a:t>Beispiellauf</a:t>
            </a:r>
            <a:endParaRPr lang="de-DE" dirty="0"/>
          </a:p>
        </p:txBody>
      </p:sp>
      <p:pic>
        <p:nvPicPr>
          <p:cNvPr id="7" name="Screencast from 2026-07-24 04-46-49">
            <a:hlinkClick r:id="" action="ppaction://media"/>
            <a:extLst>
              <a:ext uri="{FF2B5EF4-FFF2-40B4-BE49-F238E27FC236}">
                <a16:creationId xmlns:a16="http://schemas.microsoft.com/office/drawing/2014/main" id="{77CD8DE6-4572-B209-B263-EF661BAB114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7385" y="754743"/>
            <a:ext cx="9753600" cy="5486400"/>
          </a:xfrm>
          <a:prstGeom prst="rect">
            <a:avLst/>
          </a:prstGeom>
        </p:spPr>
      </p:pic>
    </p:spTree>
    <p:extLst>
      <p:ext uri="{BB962C8B-B14F-4D97-AF65-F5344CB8AC3E}">
        <p14:creationId xmlns:p14="http://schemas.microsoft.com/office/powerpoint/2010/main" val="304278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EA54F-7DC5-2D02-3303-DCB2E1C8D19D}"/>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C90BBBD1-DCED-7F64-A776-432812B72489}"/>
              </a:ext>
            </a:extLst>
          </p:cNvPr>
          <p:cNvSpPr>
            <a:spLocks noGrp="1"/>
          </p:cNvSpPr>
          <p:nvPr>
            <p:ph idx="1"/>
          </p:nvPr>
        </p:nvSpPr>
        <p:spPr/>
        <p:txBody>
          <a:bodyPr lIns="91440" tIns="45720" rIns="91440" bIns="45720" anchor="t">
            <a:normAutofit/>
          </a:bodyPr>
          <a:lstStyle/>
          <a:p>
            <a:pPr marL="0" indent="0">
              <a:buNone/>
            </a:pPr>
            <a:endParaRPr lang="en-US" sz="3200">
              <a:latin typeface="Aptos"/>
            </a:endParaRPr>
          </a:p>
          <a:p>
            <a:pPr marL="0" indent="0">
              <a:buNone/>
            </a:pPr>
            <a:endParaRPr lang="en-US" sz="3200">
              <a:latin typeface="Aptos"/>
            </a:endParaRPr>
          </a:p>
          <a:p>
            <a:pPr marL="457200" indent="-457200">
              <a:buFont typeface="Arial" pitchFamily="2" charset="2"/>
              <a:buChar char="•"/>
            </a:pPr>
            <a:r>
              <a:rPr lang="en-US" sz="3200" dirty="0">
                <a:latin typeface="Aptos"/>
              </a:rPr>
              <a:t>Andere </a:t>
            </a:r>
            <a:r>
              <a:rPr lang="en-US" sz="3200" dirty="0" err="1">
                <a:latin typeface="Aptos"/>
              </a:rPr>
              <a:t>Agententypen</a:t>
            </a:r>
            <a:r>
              <a:rPr lang="en-US" sz="3200" dirty="0">
                <a:latin typeface="Aptos"/>
              </a:rPr>
              <a:t> (</a:t>
            </a:r>
            <a:r>
              <a:rPr lang="en-US" sz="3200" dirty="0" err="1">
                <a:latin typeface="Aptos"/>
              </a:rPr>
              <a:t>z.B.</a:t>
            </a:r>
            <a:r>
              <a:rPr lang="en-US" sz="3200" dirty="0">
                <a:latin typeface="Aptos"/>
              </a:rPr>
              <a:t> </a:t>
            </a:r>
            <a:r>
              <a:rPr lang="en-US" sz="3200" dirty="0" err="1">
                <a:latin typeface="Aptos"/>
              </a:rPr>
              <a:t>Validatoragent</a:t>
            </a:r>
            <a:r>
              <a:rPr lang="en-US" sz="3200" dirty="0">
                <a:latin typeface="Aptos"/>
              </a:rPr>
              <a:t>)</a:t>
            </a:r>
            <a:endParaRPr lang="en-US" sz="3200">
              <a:latin typeface="Aptos"/>
            </a:endParaRPr>
          </a:p>
          <a:p>
            <a:pPr marL="457200" indent="-457200">
              <a:buFont typeface="Arial" pitchFamily="2" charset="2"/>
              <a:buChar char="•"/>
            </a:pPr>
            <a:endParaRPr lang="en-US" sz="3200">
              <a:latin typeface="Aptos"/>
            </a:endParaRPr>
          </a:p>
          <a:p>
            <a:pPr marL="457200" indent="-457200">
              <a:buFont typeface="Arial" pitchFamily="2" charset="2"/>
              <a:buChar char="•"/>
            </a:pPr>
            <a:r>
              <a:rPr lang="en-US" sz="3200" dirty="0">
                <a:latin typeface="Aptos"/>
              </a:rPr>
              <a:t>Mehr </a:t>
            </a:r>
            <a:r>
              <a:rPr lang="en-US" sz="3200" dirty="0" err="1">
                <a:latin typeface="Aptos"/>
              </a:rPr>
              <a:t>Agenten</a:t>
            </a:r>
            <a:r>
              <a:rPr lang="en-US" sz="3200" dirty="0">
                <a:latin typeface="Aptos"/>
              </a:rPr>
              <a:t> (8, 12, 14 …)</a:t>
            </a:r>
          </a:p>
          <a:p>
            <a:pPr marL="457200" indent="-457200">
              <a:buFont typeface="Arial" pitchFamily="2" charset="2"/>
              <a:buChar char="•"/>
            </a:pPr>
            <a:endParaRPr lang="en-US" sz="3200" dirty="0">
              <a:latin typeface="Aptos"/>
            </a:endParaRPr>
          </a:p>
          <a:p>
            <a:pPr marL="457200" indent="-457200">
              <a:buFont typeface="Arial" pitchFamily="2" charset="2"/>
              <a:buChar char="•"/>
            </a:pPr>
            <a:r>
              <a:rPr lang="en-US" sz="3200" dirty="0" err="1">
                <a:latin typeface="Aptos"/>
              </a:rPr>
              <a:t>Stressfaktoren</a:t>
            </a:r>
            <a:r>
              <a:rPr lang="en-US" sz="3200" dirty="0">
                <a:latin typeface="Aptos"/>
              </a:rPr>
              <a:t> </a:t>
            </a:r>
            <a:r>
              <a:rPr lang="en-US" sz="3200" dirty="0" err="1">
                <a:latin typeface="Aptos"/>
              </a:rPr>
              <a:t>einbauen</a:t>
            </a:r>
            <a:r>
              <a:rPr lang="en-US" sz="3200" dirty="0">
                <a:latin typeface="Aptos"/>
              </a:rPr>
              <a:t> (</a:t>
            </a:r>
            <a:r>
              <a:rPr lang="en-US" sz="3200" dirty="0" err="1">
                <a:latin typeface="Aptos"/>
              </a:rPr>
              <a:t>z.B.</a:t>
            </a:r>
            <a:r>
              <a:rPr lang="en-US" sz="3200" dirty="0">
                <a:latin typeface="Aptos"/>
              </a:rPr>
              <a:t> </a:t>
            </a:r>
            <a:r>
              <a:rPr lang="en-US" sz="3200" dirty="0" err="1">
                <a:latin typeface="Aptos"/>
              </a:rPr>
              <a:t>Roboterausfall</a:t>
            </a:r>
            <a:r>
              <a:rPr lang="en-US" sz="3200" dirty="0">
                <a:latin typeface="Aptos"/>
              </a:rPr>
              <a:t>)</a:t>
            </a:r>
            <a:endParaRPr lang="en-US" sz="3200">
              <a:latin typeface="Aptos"/>
            </a:endParaRPr>
          </a:p>
          <a:p>
            <a:pPr marL="457200" indent="-457200">
              <a:buFont typeface="Arial" pitchFamily="2" charset="2"/>
              <a:buChar char="•"/>
            </a:pPr>
            <a:endParaRPr lang="en-US" sz="3200">
              <a:latin typeface="Aptos"/>
            </a:endParaRPr>
          </a:p>
          <a:p>
            <a:pPr marL="457200" indent="-457200">
              <a:buFont typeface="Arial" pitchFamily="2" charset="2"/>
              <a:buChar char="•"/>
            </a:pPr>
            <a:endParaRPr lang="en-US" sz="3200">
              <a:latin typeface="Aptos"/>
            </a:endParaRPr>
          </a:p>
          <a:p>
            <a:pPr marL="300355" indent="-300355">
              <a:buFont typeface="Arial" pitchFamily="2" charset="2"/>
              <a:buChar char="•"/>
            </a:pPr>
            <a:endParaRPr lang="de-DE" sz="3200"/>
          </a:p>
          <a:p>
            <a:pPr>
              <a:buFont typeface="Arial" pitchFamily="2" charset="2"/>
              <a:buChar char="•"/>
            </a:pPr>
            <a:endParaRPr lang="de-DE"/>
          </a:p>
          <a:p>
            <a:pPr>
              <a:buFont typeface="Arial" pitchFamily="2" charset="2"/>
              <a:buChar char="•"/>
            </a:pPr>
            <a:endParaRPr lang="de-DE"/>
          </a:p>
          <a:p>
            <a:pPr>
              <a:buFont typeface="Arial" pitchFamily="2" charset="2"/>
              <a:buChar char="•"/>
            </a:pPr>
            <a:endParaRPr lang="de-DE"/>
          </a:p>
          <a:p>
            <a:pPr marL="457200" indent="-457200">
              <a:buFont typeface="Arial" panose="020F0302020204030204"/>
              <a:buChar char="•"/>
            </a:pPr>
            <a:endParaRPr lang="de-DE"/>
          </a:p>
        </p:txBody>
      </p:sp>
      <p:sp>
        <p:nvSpPr>
          <p:cNvPr id="3" name="Titel 2">
            <a:extLst>
              <a:ext uri="{FF2B5EF4-FFF2-40B4-BE49-F238E27FC236}">
                <a16:creationId xmlns:a16="http://schemas.microsoft.com/office/drawing/2014/main" id="{5D849770-5929-7FED-AC17-DC9B8669AFAB}"/>
              </a:ext>
            </a:extLst>
          </p:cNvPr>
          <p:cNvSpPr>
            <a:spLocks noGrp="1"/>
          </p:cNvSpPr>
          <p:nvPr>
            <p:ph type="title"/>
          </p:nvPr>
        </p:nvSpPr>
        <p:spPr/>
        <p:txBody>
          <a:bodyPr lIns="91440" tIns="45720" rIns="91440" bIns="45720" anchor="ctr">
            <a:normAutofit/>
          </a:bodyPr>
          <a:lstStyle/>
          <a:p>
            <a:r>
              <a:rPr lang="de-DE">
                <a:latin typeface="Aptos"/>
              </a:rPr>
              <a:t>Mögliche </a:t>
            </a:r>
            <a:r>
              <a:rPr lang="de-DE" err="1">
                <a:latin typeface="Aptos"/>
              </a:rPr>
              <a:t>Veränder</a:t>
            </a:r>
            <a:r>
              <a:rPr lang="de-DE">
                <a:latin typeface="Aptos"/>
              </a:rPr>
              <a:t>ungen</a:t>
            </a:r>
            <a:endParaRPr lang="en-US"/>
          </a:p>
        </p:txBody>
      </p:sp>
    </p:spTree>
    <p:extLst>
      <p:ext uri="{BB962C8B-B14F-4D97-AF65-F5344CB8AC3E}">
        <p14:creationId xmlns:p14="http://schemas.microsoft.com/office/powerpoint/2010/main" val="62785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0EE9DE-87F1-A0D0-BE1F-E5765864CB3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FCB3705-F956-5676-FB3F-264F09DF4E59}"/>
              </a:ext>
            </a:extLst>
          </p:cNvPr>
          <p:cNvSpPr>
            <a:spLocks noGrp="1"/>
          </p:cNvSpPr>
          <p:nvPr>
            <p:ph type="title"/>
          </p:nvPr>
        </p:nvSpPr>
        <p:spPr/>
        <p:txBody>
          <a:bodyPr lIns="91440" tIns="45720" rIns="91440" bIns="45720" anchor="ctr">
            <a:normAutofit/>
          </a:bodyPr>
          <a:lstStyle/>
          <a:p>
            <a:r>
              <a:rPr lang="de-DE" dirty="0" err="1"/>
              <a:t>Boxes_a</a:t>
            </a:r>
          </a:p>
        </p:txBody>
      </p:sp>
      <p:pic>
        <p:nvPicPr>
          <p:cNvPr id="2" name="Picture 1">
            <a:extLst>
              <a:ext uri="{FF2B5EF4-FFF2-40B4-BE49-F238E27FC236}">
                <a16:creationId xmlns:a16="http://schemas.microsoft.com/office/drawing/2014/main" id="{E1176D11-C363-7311-A22C-D71D33C070FB}"/>
              </a:ext>
            </a:extLst>
          </p:cNvPr>
          <p:cNvPicPr>
            <a:picLocks noChangeAspect="1"/>
          </p:cNvPicPr>
          <p:nvPr/>
        </p:nvPicPr>
        <p:blipFill>
          <a:blip r:embed="rId3"/>
          <a:srcRect r="-111"/>
          <a:stretch>
            <a:fillRect/>
          </a:stretch>
        </p:blipFill>
        <p:spPr>
          <a:xfrm>
            <a:off x="2824163" y="352425"/>
            <a:ext cx="6550945" cy="6153150"/>
          </a:xfrm>
          <a:prstGeom prst="rect">
            <a:avLst/>
          </a:prstGeom>
        </p:spPr>
      </p:pic>
    </p:spTree>
    <p:extLst>
      <p:ext uri="{BB962C8B-B14F-4D97-AF65-F5344CB8AC3E}">
        <p14:creationId xmlns:p14="http://schemas.microsoft.com/office/powerpoint/2010/main" val="2580019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AFD9458-BCA8-9F47-B653-EC2F6B842985}"/>
              </a:ext>
            </a:extLst>
          </p:cNvPr>
          <p:cNvSpPr>
            <a:spLocks noGrp="1"/>
          </p:cNvSpPr>
          <p:nvPr>
            <p:ph type="title"/>
          </p:nvPr>
        </p:nvSpPr>
        <p:spPr/>
        <p:txBody>
          <a:bodyPr lIns="91440" tIns="45720" rIns="91440" bIns="45720" anchor="ctr">
            <a:normAutofit/>
          </a:bodyPr>
          <a:lstStyle/>
          <a:p>
            <a:r>
              <a:rPr lang="de-DE" dirty="0" err="1"/>
              <a:t>Boxes_b</a:t>
            </a:r>
          </a:p>
        </p:txBody>
      </p:sp>
      <p:pic>
        <p:nvPicPr>
          <p:cNvPr id="6" name="Picture 5">
            <a:extLst>
              <a:ext uri="{FF2B5EF4-FFF2-40B4-BE49-F238E27FC236}">
                <a16:creationId xmlns:a16="http://schemas.microsoft.com/office/drawing/2014/main" id="{9F7BE639-4A0F-22D9-2A19-EE070285108F}"/>
              </a:ext>
            </a:extLst>
          </p:cNvPr>
          <p:cNvPicPr>
            <a:picLocks noChangeAspect="1"/>
          </p:cNvPicPr>
          <p:nvPr/>
        </p:nvPicPr>
        <p:blipFill>
          <a:blip r:embed="rId3"/>
          <a:srcRect r="118" b="124"/>
          <a:stretch>
            <a:fillRect/>
          </a:stretch>
        </p:blipFill>
        <p:spPr>
          <a:xfrm>
            <a:off x="4632778" y="509588"/>
            <a:ext cx="6126833" cy="5831563"/>
          </a:xfrm>
          <a:prstGeom prst="rect">
            <a:avLst/>
          </a:prstGeom>
        </p:spPr>
      </p:pic>
    </p:spTree>
    <p:extLst>
      <p:ext uri="{BB962C8B-B14F-4D97-AF65-F5344CB8AC3E}">
        <p14:creationId xmlns:p14="http://schemas.microsoft.com/office/powerpoint/2010/main" val="3556642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86A55-0071-43A8-0CD5-59A09A9F023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1130F5E-C0A9-0EEF-ACC8-1B60BFCF457B}"/>
              </a:ext>
            </a:extLst>
          </p:cNvPr>
          <p:cNvSpPr>
            <a:spLocks noGrp="1"/>
          </p:cNvSpPr>
          <p:nvPr>
            <p:ph type="title"/>
          </p:nvPr>
        </p:nvSpPr>
        <p:spPr/>
        <p:txBody>
          <a:bodyPr>
            <a:normAutofit/>
          </a:bodyPr>
          <a:lstStyle/>
          <a:p>
            <a:r>
              <a:rPr lang="de-DE" dirty="0"/>
              <a:t>Arbeitsweise / Sequenzdiagramm</a:t>
            </a:r>
          </a:p>
        </p:txBody>
      </p:sp>
      <p:pic>
        <p:nvPicPr>
          <p:cNvPr id="4" name="Grafik 3">
            <a:extLst>
              <a:ext uri="{FF2B5EF4-FFF2-40B4-BE49-F238E27FC236}">
                <a16:creationId xmlns:a16="http://schemas.microsoft.com/office/drawing/2014/main" id="{319330B0-7990-43CE-8A96-960EA2711BA8}"/>
              </a:ext>
            </a:extLst>
          </p:cNvPr>
          <p:cNvPicPr>
            <a:picLocks noChangeAspect="1"/>
          </p:cNvPicPr>
          <p:nvPr/>
        </p:nvPicPr>
        <p:blipFill>
          <a:blip r:embed="rId3"/>
          <a:stretch>
            <a:fillRect/>
          </a:stretch>
        </p:blipFill>
        <p:spPr>
          <a:xfrm>
            <a:off x="1704466" y="698011"/>
            <a:ext cx="8335524" cy="5951333"/>
          </a:xfrm>
          <a:prstGeom prst="rect">
            <a:avLst/>
          </a:prstGeom>
        </p:spPr>
      </p:pic>
    </p:spTree>
    <p:extLst>
      <p:ext uri="{BB962C8B-B14F-4D97-AF65-F5344CB8AC3E}">
        <p14:creationId xmlns:p14="http://schemas.microsoft.com/office/powerpoint/2010/main" val="1568866707"/>
      </p:ext>
    </p:extLst>
  </p:cSld>
  <p:clrMapOvr>
    <a:masterClrMapping/>
  </p:clrMapOvr>
</p:sld>
</file>

<file path=ppt/theme/theme1.xml><?xml version="1.0" encoding="utf-8"?>
<a:theme xmlns:a="http://schemas.openxmlformats.org/drawingml/2006/main" name="IFA_farbarm">
  <a:themeElements>
    <a:clrScheme name="IFA">
      <a:dk1>
        <a:srgbClr val="695C5D"/>
      </a:dk1>
      <a:lt1>
        <a:srgbClr val="FFFFFF"/>
      </a:lt1>
      <a:dk2>
        <a:srgbClr val="695C5D"/>
      </a:dk2>
      <a:lt2>
        <a:srgbClr val="E5E5E5"/>
      </a:lt2>
      <a:accent1>
        <a:srgbClr val="B8234F"/>
      </a:accent1>
      <a:accent2>
        <a:srgbClr val="9478CD"/>
      </a:accent2>
      <a:accent3>
        <a:srgbClr val="14A2CC"/>
      </a:accent3>
      <a:accent4>
        <a:srgbClr val="FBE06A"/>
      </a:accent4>
      <a:accent5>
        <a:srgbClr val="7AD7A6"/>
      </a:accent5>
      <a:accent6>
        <a:srgbClr val="FF9C37"/>
      </a:accent6>
      <a:hlink>
        <a:srgbClr val="B8234F"/>
      </a:hlink>
      <a:folHlink>
        <a:srgbClr val="9D2145"/>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7" id="{96C3A482-D102-F144-86D9-5405EA81A219}" vid="{57C48459-D0FC-E443-B52B-C9E3C86EB32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d4b7cb2-2b48-43b1-bf7f-444a8687e29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2618DBDC2866149AAB1A3B197C9E2E6" ma:contentTypeVersion="13" ma:contentTypeDescription="Ein neues Dokument erstellen." ma:contentTypeScope="" ma:versionID="67734fdd88efa4bf0e2cb5e89d0a0915">
  <xsd:schema xmlns:xsd="http://www.w3.org/2001/XMLSchema" xmlns:xs="http://www.w3.org/2001/XMLSchema" xmlns:p="http://schemas.microsoft.com/office/2006/metadata/properties" xmlns:ns3="fd4b7cb2-2b48-43b1-bf7f-444a8687e293" xmlns:ns4="cfbecf00-0a97-46bb-bbb8-b214ceb9afcc" targetNamespace="http://schemas.microsoft.com/office/2006/metadata/properties" ma:root="true" ma:fieldsID="2cbe427baf4fa80b7febb66e50ac3b0a" ns3:_="" ns4:_="">
    <xsd:import namespace="fd4b7cb2-2b48-43b1-bf7f-444a8687e293"/>
    <xsd:import namespace="cfbecf00-0a97-46bb-bbb8-b214ceb9afcc"/>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4b7cb2-2b48-43b1-bf7f-444a8687e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fbecf00-0a97-46bb-bbb8-b214ceb9afcc" elementFormDefault="qualified">
    <xsd:import namespace="http://schemas.microsoft.com/office/2006/documentManagement/types"/>
    <xsd:import namespace="http://schemas.microsoft.com/office/infopath/2007/PartnerControls"/>
    <xsd:element name="SharedWithUsers" ma:index="11"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Freigegeben für - Details" ma:internalName="SharedWithDetails" ma:readOnly="true">
      <xsd:simpleType>
        <xsd:restriction base="dms:Note">
          <xsd:maxLength value="255"/>
        </xsd:restriction>
      </xsd:simpleType>
    </xsd:element>
    <xsd:element name="SharingHintHash" ma:index="13"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98B0E4-7123-4D2A-A4BA-4DD85A587633}">
  <ds:schemaRefs>
    <ds:schemaRef ds:uri="http://schemas.microsoft.com/sharepoint/v3/contenttype/forms"/>
  </ds:schemaRefs>
</ds:datastoreItem>
</file>

<file path=customXml/itemProps2.xml><?xml version="1.0" encoding="utf-8"?>
<ds:datastoreItem xmlns:ds="http://schemas.openxmlformats.org/officeDocument/2006/customXml" ds:itemID="{02173D48-6B84-402E-80C9-D641BF65C320}">
  <ds:schemaRefs>
    <ds:schemaRef ds:uri="http://schemas.microsoft.com/office/infopath/2007/PartnerControls"/>
    <ds:schemaRef ds:uri="cfbecf00-0a97-46bb-bbb8-b214ceb9afcc"/>
    <ds:schemaRef ds:uri="http://schemas.microsoft.com/office/2006/metadata/properties"/>
    <ds:schemaRef ds:uri="http://purl.org/dc/dcmitype/"/>
    <ds:schemaRef ds:uri="http://www.w3.org/XML/1998/namespace"/>
    <ds:schemaRef ds:uri="fd4b7cb2-2b48-43b1-bf7f-444a8687e293"/>
    <ds:schemaRef ds:uri="http://purl.org/dc/terms/"/>
    <ds:schemaRef ds:uri="http://schemas.microsoft.com/office/2006/documentManagement/types"/>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E939586A-BF20-472D-9675-AEE882F0AD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4b7cb2-2b48-43b1-bf7f-444a8687e293"/>
    <ds:schemaRef ds:uri="cfbecf00-0a97-46bb-bbb8-b214ceb9af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613</Words>
  <Application>Microsoft Office PowerPoint</Application>
  <PresentationFormat>Widescreen</PresentationFormat>
  <Paragraphs>195</Paragraphs>
  <Slides>23</Slides>
  <Notes>22</Notes>
  <HiddenSlides>2</HiddenSlides>
  <MMClips>3</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IFA_farbarm</vt:lpstr>
      <vt:lpstr>Vergleichende Evaluation von LLM-Architekturen für Multiagentensysteme kooperierender mobiler Roboter </vt:lpstr>
      <vt:lpstr>Struktur</vt:lpstr>
      <vt:lpstr>Forschungsfrage</vt:lpstr>
      <vt:lpstr>Motivation</vt:lpstr>
      <vt:lpstr>Architekturen</vt:lpstr>
      <vt:lpstr>Zentral</vt:lpstr>
      <vt:lpstr>Dezentral</vt:lpstr>
      <vt:lpstr>Hybrid</vt:lpstr>
      <vt:lpstr>Pool</vt:lpstr>
      <vt:lpstr>MCP am Beispiel Zentral</vt:lpstr>
      <vt:lpstr>Kommunikation am Beispiel Zentral</vt:lpstr>
      <vt:lpstr>Experimente</vt:lpstr>
      <vt:lpstr>Experimente</vt:lpstr>
      <vt:lpstr>Turtlebot3 Burger</vt:lpstr>
      <vt:lpstr>Kriterien</vt:lpstr>
      <vt:lpstr>Stations </vt:lpstr>
      <vt:lpstr>Bottleneck</vt:lpstr>
      <vt:lpstr>Cross</vt:lpstr>
      <vt:lpstr>Beispiellauf</vt:lpstr>
      <vt:lpstr>Mögliche Veränderungen</vt:lpstr>
      <vt:lpstr>Boxes_a</vt:lpstr>
      <vt:lpstr>Boxes_b</vt:lpstr>
      <vt:lpstr>Arbeitsweise / Sequenzdiagramm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 Lukas Dietrich</dc:creator>
  <cp:lastModifiedBy>Jan Lukas Dietrich</cp:lastModifiedBy>
  <cp:revision>360</cp:revision>
  <dcterms:created xsi:type="dcterms:W3CDTF">2025-01-03T18:43:34Z</dcterms:created>
  <dcterms:modified xsi:type="dcterms:W3CDTF">2026-08-09T13:30:21Z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0x010100B2618DBDC2866149AAB1A3B197C9E2E6</vt:lpwstr>
  </property>
  <property fmtid="{D5CDD505-2E9C-101B-9397-08002B2CF9AE}" pid="3" name="MSIP_Label_8fd2079b-6d85-4185-8122-5cca51dad164_Enabled">
    <vt:lpwstr>true</vt:lpwstr>
  </property>
  <property fmtid="{D5CDD505-2E9C-101B-9397-08002B2CF9AE}" pid="4" name="MSIP_Label_8fd2079b-6d85-4185-8122-5cca51dad164_SetDate">
    <vt:lpwstr>2026-07-24T00:29:42Z</vt:lpwstr>
  </property>
  <property fmtid="{D5CDD505-2E9C-101B-9397-08002B2CF9AE}" pid="5" name="MSIP_Label_8fd2079b-6d85-4185-8122-5cca51dad164_Method">
    <vt:lpwstr>Standard</vt:lpwstr>
  </property>
  <property fmtid="{D5CDD505-2E9C-101B-9397-08002B2CF9AE}" pid="6" name="MSIP_Label_8fd2079b-6d85-4185-8122-5cca51dad164_Name">
    <vt:lpwstr>Öffentlich</vt:lpwstr>
  </property>
  <property fmtid="{D5CDD505-2E9C-101B-9397-08002B2CF9AE}" pid="7" name="MSIP_Label_8fd2079b-6d85-4185-8122-5cca51dad164_SiteId">
    <vt:lpwstr>5832f73f-b0fa-45a0-80d9-7e32bd7fa822</vt:lpwstr>
  </property>
  <property fmtid="{D5CDD505-2E9C-101B-9397-08002B2CF9AE}" pid="8" name="MSIP_Label_8fd2079b-6d85-4185-8122-5cca51dad164_ActionId">
    <vt:lpwstr>f6cf2d28-04a4-4a44-90da-3eafe64df31c</vt:lpwstr>
  </property>
  <property fmtid="{D5CDD505-2E9C-101B-9397-08002B2CF9AE}" pid="9" name="MSIP_Label_8fd2079b-6d85-4185-8122-5cca51dad164_ContentBits">
    <vt:lpwstr>0</vt:lpwstr>
  </property>
  <property fmtid="{D5CDD505-2E9C-101B-9397-08002B2CF9AE}" pid="10" name="MSIP_Label_8fd2079b-6d85-4185-8122-5cca51dad164_Tag">
    <vt:lpwstr>10, 3, 0, 2</vt:lpwstr>
  </property>
</Properties>
</file>